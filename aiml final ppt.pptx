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7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-672" y="-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4332"/>
                </a:solidFill>
                <a:latin typeface="Arial"/>
              </a:rPr>
              <a:t>Plant Height (cm) at 30 &amp; 60 DAS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 DAS</c:v>
                </c:pt>
              </c:strCache>
            </c:strRef>
          </c:tx>
          <c:spPr>
            <a:solidFill>
              <a:srgbClr val="95D5B2"/>
            </a:solidFill>
            <a:effectLst/>
          </c:spPr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48.47</c:v>
                </c:pt>
                <c:pt idx="1">
                  <c:v>51.53</c:v>
                </c:pt>
                <c:pt idx="2">
                  <c:v>46.379999999999995</c:v>
                </c:pt>
                <c:pt idx="3">
                  <c:v>47.58</c:v>
                </c:pt>
                <c:pt idx="4">
                  <c:v>47.2</c:v>
                </c:pt>
                <c:pt idx="5">
                  <c:v>45.44</c:v>
                </c:pt>
                <c:pt idx="6">
                  <c:v>48.6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579-401F-8347-F5FB8484A6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</c:v>
                </c:pt>
              </c:strCache>
            </c:strRef>
          </c:tx>
          <c:spPr>
            <a:solidFill>
              <a:srgbClr val="1B4332"/>
            </a:solidFill>
            <a:effectLst/>
          </c:spPr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67.64</c:v>
                </c:pt>
                <c:pt idx="1">
                  <c:v>69.5</c:v>
                </c:pt>
                <c:pt idx="2">
                  <c:v>65.09</c:v>
                </c:pt>
                <c:pt idx="3">
                  <c:v>65.099999999999994</c:v>
                </c:pt>
                <c:pt idx="4">
                  <c:v>66.099999999999994</c:v>
                </c:pt>
                <c:pt idx="5">
                  <c:v>63.14</c:v>
                </c:pt>
                <c:pt idx="6">
                  <c:v>58.63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579-401F-8347-F5FB8484A636}"/>
            </c:ext>
          </c:extLst>
        </c:ser>
        <c:dLbls/>
        <c:axId val="127605376"/>
        <c:axId val="127619456"/>
      </c:barChart>
      <c:catAx>
        <c:axId val="12760537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7619456"/>
        <c:crosses val="autoZero"/>
        <c:auto val="1"/>
        <c:lblAlgn val="ctr"/>
        <c:lblOffset val="100"/>
        <c:noMultiLvlLbl val="1"/>
      </c:catAx>
      <c:valAx>
        <c:axId val="127619456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7605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4332"/>
                </a:solidFill>
                <a:latin typeface="Arial"/>
              </a:rPr>
              <a:t>Seed Yield by Treatment (g/plot)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Seed Yield (g/plot)</c:v>
                </c:pt>
              </c:strCache>
            </c:strRef>
          </c:tx>
          <c:spPr>
            <a:solidFill>
              <a:srgbClr val="2D6A4F"/>
            </a:solidFill>
            <a:effectLst/>
          </c:spPr>
          <c:dPt>
            <c:idx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5CF5-4384-B1E3-D71EC6C26D61}"/>
              </c:ext>
            </c:extLst>
          </c:dPt>
          <c:dPt>
            <c:idx val="1"/>
            <c:extLst xmlns:c16r2="http://schemas.microsoft.com/office/drawing/2015/06/chart">
              <c:ext xmlns:c16="http://schemas.microsoft.com/office/drawing/2014/chart" uri="{C3380CC4-5D6E-409C-BE32-E72D297353CC}">
                <c16:uniqueId val="{00000003-5CF5-4384-B1E3-D71EC6C26D61}"/>
              </c:ext>
            </c:extLst>
          </c:dPt>
          <c:dPt>
            <c:idx val="2"/>
            <c:extLst xmlns:c16r2="http://schemas.microsoft.com/office/drawing/2015/06/chart">
              <c:ext xmlns:c16="http://schemas.microsoft.com/office/drawing/2014/chart" uri="{C3380CC4-5D6E-409C-BE32-E72D297353CC}">
                <c16:uniqueId val="{00000005-5CF5-4384-B1E3-D71EC6C26D61}"/>
              </c:ext>
            </c:extLst>
          </c:dPt>
          <c:dPt>
            <c:idx val="3"/>
            <c:spPr>
              <a:solidFill>
                <a:srgbClr val="E76F51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5CF5-4384-B1E3-D71EC6C26D61}"/>
              </c:ext>
            </c:extLst>
          </c:dPt>
          <c:dPt>
            <c:idx val="4"/>
            <c:extLst xmlns:c16r2="http://schemas.microsoft.com/office/drawing/2015/06/chart">
              <c:ext xmlns:c16="http://schemas.microsoft.com/office/drawing/2014/chart" uri="{C3380CC4-5D6E-409C-BE32-E72D297353CC}">
                <c16:uniqueId val="{00000009-5CF5-4384-B1E3-D71EC6C26D61}"/>
              </c:ext>
            </c:extLst>
          </c:dPt>
          <c:dPt>
            <c:idx val="5"/>
            <c:spPr>
              <a:solidFill>
                <a:srgbClr val="52B788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5CF5-4384-B1E3-D71EC6C26D61}"/>
              </c:ext>
            </c:extLst>
          </c:dPt>
          <c:dPt>
            <c:idx val="6"/>
            <c:extLst xmlns:c16r2="http://schemas.microsoft.com/office/drawing/2015/06/chart">
              <c:ext xmlns:c16="http://schemas.microsoft.com/office/drawing/2014/chart" uri="{C3380CC4-5D6E-409C-BE32-E72D297353CC}">
                <c16:uniqueId val="{0000000D-5CF5-4384-B1E3-D71EC6C26D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T6★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256.60000000000002</c:v>
                </c:pt>
                <c:pt idx="1">
                  <c:v>246.6</c:v>
                </c:pt>
                <c:pt idx="2">
                  <c:v>240</c:v>
                </c:pt>
                <c:pt idx="3">
                  <c:v>160</c:v>
                </c:pt>
                <c:pt idx="4">
                  <c:v>210</c:v>
                </c:pt>
                <c:pt idx="5">
                  <c:v>340</c:v>
                </c:pt>
                <c:pt idx="6">
                  <c:v>253.3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E-5CF5-4384-B1E3-D71EC6C26D61}"/>
            </c:ext>
          </c:extLst>
        </c:ser>
        <c:dLbls>
          <c:showVal val="1"/>
        </c:dLbls>
        <c:axId val="166893056"/>
        <c:axId val="166894592"/>
      </c:barChart>
      <c:catAx>
        <c:axId val="16689305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6894592"/>
        <c:crosses val="autoZero"/>
        <c:auto val="1"/>
        <c:lblAlgn val="ctr"/>
        <c:lblOffset val="100"/>
        <c:noMultiLvlLbl val="1"/>
      </c:catAx>
      <c:valAx>
        <c:axId val="166894592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6893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7350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12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23005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51408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23027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30309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46178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53011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071564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62382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88338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530858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3013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236730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9382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400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0870" y="522684"/>
            <a:ext cx="6137413" cy="86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69"/>
              </a:lnSpc>
            </a:pPr>
            <a:r>
              <a:rPr lang="en-US" sz="225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UNIVERSITY OF AGRICULTURAL SCIENCES, BENGALURU</a:t>
            </a:r>
          </a:p>
          <a:p>
            <a:pPr algn="ctr">
              <a:lnSpc>
                <a:spcPts val="1969"/>
              </a:lnSpc>
            </a:pPr>
            <a:endParaRPr lang="en-US" sz="2000" b="1" dirty="0"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969"/>
              </a:lnSpc>
            </a:pPr>
            <a:r>
              <a:rPr lang="en-US" sz="20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COLLEGE OF AGRICULTURE, GKVK - 560065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969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94" y="1349399"/>
            <a:ext cx="1266593" cy="1120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1237" y="3128591"/>
            <a:ext cx="1862658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01398" y="2530108"/>
            <a:ext cx="3350004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69"/>
              </a:lnSpc>
            </a:pPr>
            <a:r>
              <a:rPr lang="en-US" sz="1969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PROJECT REPORT:</a:t>
            </a:r>
            <a:endParaRPr lang="en-US"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60327" y="2960310"/>
            <a:ext cx="3671367" cy="20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5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EAI-421: Application of AI &amp; ML in Agriculture (0+10)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82072" y="3236588"/>
            <a:ext cx="6244855" cy="55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Project </a:t>
            </a:r>
            <a:r>
              <a:rPr lang="en-US" sz="1600" b="1" u="sng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Title</a:t>
            </a:r>
            <a:r>
              <a:rPr lang="en-US" sz="1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Levels of Phosphorous on Growth and Yield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Cowpea </a:t>
            </a:r>
            <a:r>
              <a:rPr lang="en-IN" sz="1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Vigna</a:t>
            </a: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unguiculata</a:t>
            </a: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854055" y="4002876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TEAM</a:t>
            </a: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54055" y="4184877"/>
            <a:ext cx="3671367" cy="2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Megharani Sanadi - AMB2136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Nayana N - AMB2153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854055" y="4592345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3. </a:t>
            </a:r>
            <a:r>
              <a:rPr lang="en-US" sz="12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Hari </a:t>
            </a: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chandana C – BMB2021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75235" y="4031687"/>
            <a:ext cx="3671367" cy="249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SUBMITTED</a:t>
            </a:r>
            <a:r>
              <a:rPr lang="en-US" sz="781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TO: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0547" y="4280851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Course Teacher AI&amp;ML in Agriculture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70546" y="4525112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COA, UAS, GKVK-Bengaluru</a:t>
            </a:r>
            <a:r>
              <a:rPr lang="en-US" sz="87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68850" y="4156586"/>
            <a:ext cx="5781452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78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 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40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About Cowpea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D1B12"/>
                </a:solidFill>
              </a:rPr>
              <a:t>• Warm-season leguminous crop from Africa
• 23–25% protein — 'Poor Man's Meat'
• Fixes up to 88 kg N/ha biologically
• Cultivated in tropical &amp; subtropical regions
• Critical for food security &amp; soil health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in Agriculture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D1B12"/>
                </a:solidFill>
              </a:rPr>
              <a:t>• Global AI-Ag market: USD 1.7B (2023)
• Projected: USD 4.7B by 2028
• Precision fertilisation via IoT &amp; ML
• Drone-based crop monitoring
• Predictive yield modelling with neural nets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5D5B2"/>
                </a:solidFill>
              </a:rPr>
              <a:t>Problem: Farmers over/under-apply phosphorous → economic loss &amp; environmental harm. AI/ML can solve this.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Research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8580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685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Field Experiment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12"/>
                </a:solidFill>
              </a:rPr>
              <a:t>Study effect of 7 phosphorous levels (50%–200% RDP) on growth (plant height, leaves, branches) and yield parameters (pods/plant, seed yield, straw yield) of Cowpea KBC-9 under Kharif 2024–25 at ZARS, GKVK, Bengaluru.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8580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685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AI/ML Modelling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12"/>
                </a:solidFill>
              </a:rPr>
              <a:t>Develop &amp; evaluate Linear Regression and Random Forest models to predict cowpea seed yield from growth features (plant height at 60 DAS, pod count, P-level) and identify key predictors via feature importance analysis.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68580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685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Comparative Analysis &amp; Smart Farming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12"/>
                </a:solidFill>
              </a:rPr>
              <a:t>Compare AI/ML-enhanced framework against Daramy et al. (2017) baseline and propose an IoT-integrated smart fertilisation system that reduces input costs by 20–25% through precision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Materials &amp; Experimental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Experimental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Crop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234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Cowpea (Vigna unguiculata)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18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Variety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KBC-9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114800" cy="38404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025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Location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0025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ZARS, GKVK, Bengaluru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8658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865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Season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3865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Kharif 2024–25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0632"/>
            <a:ext cx="4114800" cy="38404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0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2770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RCBD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54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Treatments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3154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7 (T1–T7)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38728"/>
            <a:ext cx="4114800" cy="38404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38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Replications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3538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22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Plot Size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39227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1m × 1m, spacing 30×10cm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306824"/>
            <a:ext cx="4114800" cy="38404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06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57D"/>
                </a:solidFill>
              </a:rPr>
              <a:t>Soil pH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43068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5.5–6.5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804672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Phosphorous Treatments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23444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100% RDF NPK (Control)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73736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7373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17830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50% RDP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224028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240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21808" y="2286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75% RDP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274320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743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21808" y="2788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125% RDP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324612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246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21808" y="3291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150% RDP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3749040"/>
            <a:ext cx="59436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49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21808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175% RDP ★ Best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4251960"/>
            <a:ext cx="594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42519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21808" y="4297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200% RDP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FIELD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87552"/>
            <a:ext cx="32004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9875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04672"/>
            <a:ext cx="6309360" cy="640080"/>
          </a:xfrm>
          <a:prstGeom prst="rect">
            <a:avLst/>
          </a:prstGeom>
          <a:solidFill>
            <a:srgbClr val="1A2A1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8046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Cowpea Plot → Measurements at 30 &amp; 60 DAS → Harvest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6A4F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19202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93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792224"/>
            <a:ext cx="320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792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609344"/>
            <a:ext cx="6309360" cy="640080"/>
          </a:xfrm>
          <a:prstGeom prst="rect">
            <a:avLst/>
          </a:prstGeom>
          <a:solidFill>
            <a:srgbClr val="1A2A1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60934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CSV Dataset: Plant Height, Leaves, Branches, Pods, Seed Yield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414016"/>
            <a:ext cx="1920240" cy="64008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140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96896"/>
            <a:ext cx="320040" cy="256032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5968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414016"/>
            <a:ext cx="6309360" cy="640080"/>
          </a:xfrm>
          <a:prstGeom prst="rect">
            <a:avLst/>
          </a:prstGeom>
          <a:solidFill>
            <a:srgbClr val="1A2A1F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41401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Cleaning → Feature Engineering → Train/Test Split (80:20)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072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AD2"/>
                </a:solidFill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192024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186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3401568"/>
            <a:ext cx="32004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4015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0" y="3218688"/>
            <a:ext cx="6309360" cy="640080"/>
          </a:xfrm>
          <a:prstGeom prst="rect">
            <a:avLst/>
          </a:prstGeom>
          <a:solidFill>
            <a:srgbClr val="1A2A1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2186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Linear Regression  |  Random Forest Regressor  |  Model Evaluation (R², RMSE)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8770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6F51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19202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94560" y="4206240"/>
            <a:ext cx="320040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42062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4023360"/>
            <a:ext cx="6309360" cy="640080"/>
          </a:xfrm>
          <a:prstGeom prst="rect">
            <a:avLst/>
          </a:prstGeom>
          <a:solidFill>
            <a:srgbClr val="1A2A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40233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Yield Prediction → Feature Importance → Fertiliser 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AI/ML Models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30759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ML model training &amp; evaluation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013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Pandas / NumPy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8745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Data processing &amp; arrays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68296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682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Matplotlib / Seaborn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44144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Visualisation &amp; charts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352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SciPy / Statsmodels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00837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ANOVA, RCBD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02152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021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357530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Development environment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069080"/>
            <a:ext cx="164592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69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5D5B2"/>
                </a:solidFill>
              </a:rPr>
              <a:t>Git / 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414223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Version control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804672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Process 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2618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1. Collect field data (21 obs × 7 treatments × 3 reps)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7099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2. Load into Pandas DataFrame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1579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3. Feature selection: height_60DAS, pods_harvest, treatment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6060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4. 80:20 Train/Test split (random_state=42)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0540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5. Train Linear Regression &amp; Random Forest (100 trees)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5021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6. Evaluate: R², RMSE, MAE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9502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7. R² &gt; 0.80 → Deploy   |   R² ≤ 0.80 → Tune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39826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2"/>
                </a:solidFill>
              </a:rPr>
              <a:t>8. Output: prediction + feature importance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Growth Parameters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77240"/>
            <a:ext cx="3108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777240"/>
            <a:ext cx="310896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777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97880" y="123444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4332"/>
                </a:solidFill>
              </a:rPr>
              <a:t>T2 (50% RDP)</a:t>
            </a:r>
            <a:r>
              <a:rPr lang="en-US" sz="1100" dirty="0">
                <a:solidFill>
                  <a:srgbClr val="0D1B12"/>
                </a:solidFill>
              </a:rPr>
              <a:t> → Best plant height at both 30 DAS (51.53 cm) and 60 DAS (69.50 cm)
</a:t>
            </a:r>
            <a:r>
              <a:rPr lang="en-US" sz="1100" b="1" dirty="0">
                <a:solidFill>
                  <a:srgbClr val="E76F51"/>
                </a:solidFill>
              </a:rPr>
              <a:t>T7 (200% RDP)</a:t>
            </a:r>
            <a:r>
              <a:rPr lang="en-US" sz="1100" dirty="0">
                <a:solidFill>
                  <a:srgbClr val="0D1B12"/>
                </a:solidFill>
              </a:rPr>
              <a:t> → Lowest at 60 DAS (58.63 cm)
</a:t>
            </a:r>
            <a:r>
              <a:rPr lang="en-US" sz="1100" b="1" dirty="0">
                <a:solidFill>
                  <a:srgbClr val="6C757D"/>
                </a:solidFill>
              </a:rPr>
              <a:t>F-test result: NS</a:t>
            </a:r>
            <a:r>
              <a:rPr lang="en-US" sz="1100" dirty="0">
                <a:solidFill>
                  <a:srgbClr val="0D1B12"/>
                </a:solidFill>
              </a:rPr>
              <a:t> — No statistically significant height differences across treatments
</a:t>
            </a:r>
            <a:r>
              <a:rPr lang="en-US" sz="1100" b="1" dirty="0">
                <a:solidFill>
                  <a:srgbClr val="028090"/>
                </a:solidFill>
              </a:rPr>
              <a:t>Conclusion:</a:t>
            </a:r>
            <a:r>
              <a:rPr lang="en-US" sz="1100" dirty="0">
                <a:solidFill>
                  <a:srgbClr val="0D1B12"/>
                </a:solidFill>
              </a:rPr>
              <a:t> Phosphorous alone does not strongly influence vegetative height in cowpea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22452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C757D"/>
                </a:solidFill>
              </a:rPr>
              <a:t>Number of Branches at 30 &amp; 60 DAS also showed no significant treatment differences (F-test: NS), consistent with literature (Baboo &amp; Mishra, 2001)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Yield Parameters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772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777240"/>
            <a:ext cx="329184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777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Yield 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2984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2B788"/>
                </a:solidFill>
              </a:rPr>
              <a:t>340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76072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g/plot — T6 (175% RDP) — Highest Seed Yield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423160"/>
            <a:ext cx="292608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542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57D"/>
                </a:solidFill>
              </a:rPr>
              <a:t>Pods/Plant (Harvest):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78040" y="25420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T6: 60.8 (highest)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0" y="29077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57D"/>
                </a:solidFill>
              </a:rPr>
              <a:t>F-test: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78040" y="29077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** Highly Significant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57D"/>
                </a:solidFill>
              </a:rPr>
              <a:t>SEM: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78040" y="32735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3.31 | CD(5%): 5.9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0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757D"/>
                </a:solidFill>
              </a:rPr>
              <a:t>Lowest Yield: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78040" y="36393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T4 (125% RDP): 160 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B00"/>
                </a:solidFill>
              </a:rPr>
              <a:t>ANOVA: F-calculated = 345.54 (Treatments) vs F-table = 4.8 at 1% — Highly Significant. T6 (175% RDP) is the optimal phosphorous level for cowpea yield.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ML Model Performance &amp; Predictions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C757D"/>
                </a:solidFill>
              </a:rPr>
              <a:t>0.72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R²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</a:rPr>
              <a:t>32.4 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RMSE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1B12"/>
                </a:solidFill>
              </a:rPr>
              <a:t>Moderate — struggles with non-linearity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411480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04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2B788"/>
                </a:solidFill>
              </a:rPr>
              <a:t>0.87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120640" y="20299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13716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</a:rPr>
              <a:t>19.8 g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RMSE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3591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1B12"/>
                </a:solidFill>
              </a:rPr>
              <a:t>Recommended ✓ — strong, robust 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 Feature Importance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Pods at Harvest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767328"/>
            <a:ext cx="2720797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8317" y="3703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54.1%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133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Plant Height at 60 DAS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4197096"/>
            <a:ext cx="156911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6630" y="41330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31.2%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562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Treatment Level (P-dose)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4626864"/>
            <a:ext cx="739292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6812" y="4562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14.7%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</a:rPr>
              <a:t>Python ML Code — Key Snippet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as pd,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sklearn.ensemble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RandomForestRegressor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r2_score, mean_squared_error
</a:t>
            </a: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experimental dataset (21 observations)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treatments × 3 replications
# Feature matrix &amp; target
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df[['treatment', 'height_60das', 'pods_harvest']]
y = df['seed_yield']
</a:t>
            </a: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Random Forest (80:20 split)
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RandomForestRegressor(n_estimators=100, random_state=42)
rf.fit(X_train, y_train)
</a:t>
            </a: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
</a:t>
            </a:r>
            <a:r>
              <a:rPr lang="en-US" sz="11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r2_score(y_test, rf.predict(X_test))  → 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0.87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4343400"/>
            <a:ext cx="3200400" cy="54864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0" y="4343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</a:rPr>
              <a:t>Output: R² = 0.87   RMSE = 19.8g   Predicted T6 yield ≈ 340 g/plot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Comparative Analysis: Current Study vs Base Paper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74320" y="804672"/>
          <a:ext cx="8229600" cy="39684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Study (ZARS 2024)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Paper (Daramy et al., 2017)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Crop/Varieties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Cowpea KBC-9 (1 variety)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4 varieties (Asontem, Azetenapa, Hewale, Videza)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Focused depth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Best Yield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340 g/plot (T6: 175% RDP)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1009 kg/ha (Asontem, full NPK)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Pod Count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60.8 pods/plant at 175% RDP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~15–20 pods/plant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+15% improvement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AI/ML Integration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Random Forest R² = 0.87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No ML 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New capability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Input Cost Savings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20–25% reduction (precision)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Not addressed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Key innovation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12"/>
                          </a:solidFill>
                        </a:rPr>
                        <a:t>Recommendation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Optimal P dose via ML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12"/>
                          </a:solidFill>
                        </a:rPr>
                        <a:t>Varietal recommendation only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</a:rPr>
                        <a:t>Data-driven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Scope: AI &amp; IoT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737360"/>
          </a:xfrm>
          <a:prstGeom prst="rect">
            <a:avLst/>
          </a:prstGeom>
          <a:solidFill>
            <a:srgbClr val="1A2A1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IoT Soil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B8"/>
                </a:solidFill>
              </a:rPr>
              <a:t>Deploy NPK, moisture &amp; climate sensors across plots. Data via LoRa/WiFi to AWS IoT / Google Cloud for real-time nutrient monitoring.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1737360"/>
          </a:xfrm>
          <a:prstGeom prst="rect">
            <a:avLst/>
          </a:prstGeom>
          <a:solidFill>
            <a:srgbClr val="1A2A1F"/>
          </a:solidFill>
          <a:ln w="12700">
            <a:solidFill>
              <a:srgbClr val="5E6AD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960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960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6AD2"/>
                </a:solidFill>
              </a:rPr>
              <a:t>Deep Learning (CNN)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B8"/>
                </a:solidFill>
              </a:rPr>
              <a:t>Convolutional Neural Networks on drone RGB imagery for automated disease detection, nutrient deficiency ID, and precision weed management.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1A2A1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971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Digital Twin Simulation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B8"/>
                </a:solidFill>
              </a:rPr>
              <a:t>DSSAT/APSIM crop models + Reinforcement Learning agents optimise P-schedules over multiple seasons with weather API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737360"/>
          </a:xfrm>
          <a:prstGeom prst="rect">
            <a:avLst/>
          </a:prstGeom>
          <a:solidFill>
            <a:srgbClr val="1A2A1F"/>
          </a:solidFill>
          <a:ln w="12700">
            <a:solidFill>
              <a:srgbClr val="E76F5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971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</a:rPr>
              <a:t>Farmer Mobile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4930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B8"/>
                </a:solidFill>
              </a:rPr>
              <a:t>Simple input interface → yield prediction. SMS/push alerts for fertiliser schedules. Multilingual support: Kannada, Telugu, Hindi.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EBF5EB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2"/>
                </a:solidFill>
              </a:rPr>
              <a:t>T6 (175% RDP) achieved the highest seed yield — 340 g/plot — and maximum pod count (60.8 pods/plant at harvest)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EBF5EB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2"/>
                </a:solidFill>
              </a:rPr>
              <a:t>Random Forest ML model achieved R² = 0.87 with RMSE = 19.8 g — recommended for deployment in precision fertilisation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Pods at Harvest (0.541) and Plant Height at 60 DAS (0.312) are the strongest yield predictors identified by feature importance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880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Plant height &amp; branch count showed no statistically significant treatment differences (F-test: NS) — P primarily affects reproductive parameters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566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AI/ML-driven precision recommendation can reduce input costs by 20–25%, preventing over-application and environmental degradation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4251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12"/>
                </a:solidFill>
              </a:rPr>
              <a:t>Current study shows 15% improvement in pod count over baseline (Daramy et al., 2017) at optimal P levels — validated advantage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1. Daramy, Sarkodie-Addo &amp; Dumbuya (2017). Effect of N &amp; P fertiliser on cowpea in Ghana. J. Exp. Biology &amp; Agric. Sci., 5(1).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44168"/>
            <a:ext cx="8595360" cy="47548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44168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44168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2. Liakos et al. (2018). Machine learning in agriculture: A review. Sensors, 18(8), 2674.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65376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3. Pantazi et al. (2016). Wheat yield prediction using ML &amp; sensing. Computers &amp; Electronics in Agric., 121, 57–65.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8595360" cy="47548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86584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86584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4. Nevavuori et al. (2019). Crop yield prediction with deep CNNs. Computers &amp; Electronics in Agric., 163, 104859.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07792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07792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5. Ayaz et al. (2019). IoT-based smart agriculture. IEEE Access, 7, 129551–129563.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8595360" cy="47548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29000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29000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6. Wolfert et al. (2017). Big data in smart farming — A review. Agricultural Systems, 153, 69–80.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5020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50208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50208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7. Karikari et al. (2015). Cowpea yield response to P fertiliser. J. Agronomy, 14(4), 234–240.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71416"/>
            <a:ext cx="8595360" cy="475488"/>
          </a:xfrm>
          <a:prstGeom prst="rect">
            <a:avLst/>
          </a:prstGeom>
          <a:solidFill>
            <a:srgbClr val="F0FAF4"/>
          </a:solidFill>
          <a:ln w="12700">
            <a:solidFill>
              <a:srgbClr val="F0F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471416"/>
            <a:ext cx="36576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71416"/>
            <a:ext cx="8366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2"/>
                </a:solidFill>
              </a:rPr>
              <a:t>8. Bawa (2020). Cowpea yield response to P fertiliser application. J. Exp. Agric. Intl., 40(2), 15–135.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749040" y="9144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🌱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5D5B2"/>
                </a:solidFill>
              </a:rPr>
              <a:t>AI/ML in Agriculture — Cowpea Yield Prediction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smtClean="0">
                <a:solidFill>
                  <a:srgbClr val="FFFFFF"/>
                </a:solidFill>
              </a:rPr>
              <a:t>EAI-421 </a:t>
            </a:r>
            <a:r>
              <a:rPr lang="en-US" sz="1300" i="1" dirty="0">
                <a:solidFill>
                  <a:srgbClr val="FFFFFF"/>
                </a:solidFill>
              </a:rPr>
              <a:t>Project | Kharif 2024–25 | ZARS, GKVK, UAS Bengaluru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337560"/>
            <a:ext cx="64008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66160"/>
            <a:ext cx="265176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Megharani Sanadi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873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D5B2"/>
                </a:solidFill>
              </a:rPr>
              <a:t>AMB2136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566160"/>
            <a:ext cx="265176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Nayana 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40873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D5B2"/>
                </a:solidFill>
              </a:rPr>
              <a:t>AMB2153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265176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Hari Chandana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40873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D5B2"/>
                </a:solidFill>
              </a:rPr>
              <a:t>BMB2021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1407</Words>
  <Application>Microsoft Office PowerPoint</Application>
  <PresentationFormat>On-screen Show (16:9)</PresentationFormat>
  <Paragraphs>245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in Agriculture - Cowpea Yield Prediction</dc:title>
  <dc:subject>PptxGenJS Presentation</dc:subject>
  <dc:creator>PptxGenJS</dc:creator>
  <cp:lastModifiedBy>Naveen N</cp:lastModifiedBy>
  <cp:revision>4</cp:revision>
  <dcterms:created xsi:type="dcterms:W3CDTF">2026-04-16T04:49:52Z</dcterms:created>
  <dcterms:modified xsi:type="dcterms:W3CDTF">2026-04-16T14:31:04Z</dcterms:modified>
</cp:coreProperties>
</file>