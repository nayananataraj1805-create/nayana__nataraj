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57" r:id="rId3"/>
    <p:sldId id="272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D2137"/>
                </a:solidFill>
                <a:latin typeface="Arial"/>
              </a:rPr>
              <a:t>Plant Height (cm) – 30 vs 60 DAS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DAS (cm)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48.47</c:v>
                </c:pt>
                <c:pt idx="1">
                  <c:v>51.53</c:v>
                </c:pt>
                <c:pt idx="2">
                  <c:v>46.38</c:v>
                </c:pt>
                <c:pt idx="3">
                  <c:v>47.58</c:v>
                </c:pt>
                <c:pt idx="4">
                  <c:v>47.2</c:v>
                </c:pt>
                <c:pt idx="5">
                  <c:v>45.44</c:v>
                </c:pt>
                <c:pt idx="6">
                  <c:v>48.6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4E-460E-8B72-5FB1957FEA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DAS (cm)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67.64</c:v>
                </c:pt>
                <c:pt idx="1">
                  <c:v>69.5</c:v>
                </c:pt>
                <c:pt idx="2">
                  <c:v>65.09</c:v>
                </c:pt>
                <c:pt idx="3">
                  <c:v>65.099999999999994</c:v>
                </c:pt>
                <c:pt idx="4">
                  <c:v>66.099999999999994</c:v>
                </c:pt>
                <c:pt idx="5">
                  <c:v>63.14</c:v>
                </c:pt>
                <c:pt idx="6">
                  <c:v>58.63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4E-460E-8B72-5FB1957FEA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D2137"/>
                </a:solidFill>
                <a:latin typeface="Arial"/>
              </a:rPr>
              <a:t>Pods per Plant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Pods @ 60 DAS</c:v>
                </c:pt>
              </c:strCache>
            </c:strRef>
          </c:tx>
          <c:spPr>
            <a:solidFill>
              <a:srgbClr val="4BAC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11</c:v>
                </c:pt>
                <c:pt idx="2">
                  <c:v>10.5</c:v>
                </c:pt>
                <c:pt idx="3">
                  <c:v>14.1</c:v>
                </c:pt>
                <c:pt idx="4">
                  <c:v>10</c:v>
                </c:pt>
                <c:pt idx="5">
                  <c:v>11.8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46-4971-8FD2-F937D428CF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Pods @ Harvest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44.4</c:v>
                </c:pt>
                <c:pt idx="1">
                  <c:v>18.5</c:v>
                </c:pt>
                <c:pt idx="2">
                  <c:v>18.399999999999999</c:v>
                </c:pt>
                <c:pt idx="3">
                  <c:v>20.100000000000001</c:v>
                </c:pt>
                <c:pt idx="4">
                  <c:v>17.3</c:v>
                </c:pt>
                <c:pt idx="5">
                  <c:v>60.8</c:v>
                </c:pt>
                <c:pt idx="6">
                  <c:v>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46-4971-8FD2-F937D428CF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D2137"/>
                </a:solidFill>
                <a:latin typeface="Arial"/>
              </a:rPr>
              <a:t>Seed Yield (g)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Yield (g)</c:v>
                </c:pt>
              </c:strCache>
            </c:strRef>
          </c:tx>
          <c:spPr>
            <a:solidFill>
              <a:srgbClr val="2D7D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543-49D8-ABD2-9DA93851988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543-49D8-ABD2-9DA93851988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543-49D8-ABD2-9DA93851988C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43-49D8-ABD2-9DA93851988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543-49D8-ABD2-9DA93851988C}"/>
              </c:ext>
            </c:extLst>
          </c:dPt>
          <c:dPt>
            <c:idx val="5"/>
            <c:invertIfNegative val="0"/>
            <c:bubble3D val="0"/>
            <c:spPr>
              <a:solidFill>
                <a:srgbClr val="0A6E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543-49D8-ABD2-9DA93851988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543-49D8-ABD2-9DA93851988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256.60000000000002</c:v>
                </c:pt>
                <c:pt idx="1">
                  <c:v>246.6</c:v>
                </c:pt>
                <c:pt idx="2">
                  <c:v>240</c:v>
                </c:pt>
                <c:pt idx="3">
                  <c:v>160</c:v>
                </c:pt>
                <c:pt idx="4">
                  <c:v>210</c:v>
                </c:pt>
                <c:pt idx="5">
                  <c:v>340</c:v>
                </c:pt>
                <c:pt idx="6">
                  <c:v>253.3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543-49D8-ABD2-9DA9385198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Seed Yield (g) per Treatment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 Yield (g)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77-41DA-971C-C8F638AE90A6}"/>
              </c:ext>
            </c:extLst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77-41DA-971C-C8F638AE90A6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77-41DA-971C-C8F638AE90A6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377-41DA-971C-C8F638AE90A6}"/>
              </c:ext>
            </c:extLst>
          </c:dPt>
          <c:dPt>
            <c:idx val="4"/>
            <c:invertIfNegative val="0"/>
            <c:bubble3D val="0"/>
            <c:spPr>
              <a:solidFill>
                <a:srgbClr val="5B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377-41DA-971C-C8F638AE90A6}"/>
              </c:ext>
            </c:extLst>
          </c:dPt>
          <c:dPt>
            <c:idx val="5"/>
            <c:invertIfNegative val="0"/>
            <c:bubble3D val="0"/>
            <c:spPr>
              <a:solidFill>
                <a:srgbClr val="2D7D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377-41DA-971C-C8F638AE90A6}"/>
              </c:ext>
            </c:extLst>
          </c:dPt>
          <c:dPt>
            <c:idx val="6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377-41DA-971C-C8F638AE90A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
100%RDF</c:v>
                </c:pt>
                <c:pt idx="1">
                  <c:v>T2
50%RDP</c:v>
                </c:pt>
                <c:pt idx="2">
                  <c:v>T3
75%RDP</c:v>
                </c:pt>
                <c:pt idx="3">
                  <c:v>T4
125%RDP</c:v>
                </c:pt>
                <c:pt idx="4">
                  <c:v>T5
150%RDP</c:v>
                </c:pt>
                <c:pt idx="5">
                  <c:v>T6
175%RDP</c:v>
                </c:pt>
                <c:pt idx="6">
                  <c:v>T7
200%RDP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256.60000000000002</c:v>
                </c:pt>
                <c:pt idx="1">
                  <c:v>246.6</c:v>
                </c:pt>
                <c:pt idx="2">
                  <c:v>240</c:v>
                </c:pt>
                <c:pt idx="3">
                  <c:v>160</c:v>
                </c:pt>
                <c:pt idx="4">
                  <c:v>210</c:v>
                </c:pt>
                <c:pt idx="5">
                  <c:v>340</c:v>
                </c:pt>
                <c:pt idx="6">
                  <c:v>253.3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377-41DA-971C-C8F638AE90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Pods per Plant (60 DAS vs Harvest)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Pods @ 60 DAS</c:v>
                </c:pt>
              </c:strCache>
            </c:strRef>
          </c:tx>
          <c:spPr>
            <a:solidFill>
              <a:srgbClr val="4BAC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11</c:v>
                </c:pt>
                <c:pt idx="2">
                  <c:v>10.5</c:v>
                </c:pt>
                <c:pt idx="3">
                  <c:v>14.1</c:v>
                </c:pt>
                <c:pt idx="4">
                  <c:v>10</c:v>
                </c:pt>
                <c:pt idx="5">
                  <c:v>11.8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5-498B-BA81-0A705D881C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Pods @ Harvest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44.4</c:v>
                </c:pt>
                <c:pt idx="1">
                  <c:v>18.5</c:v>
                </c:pt>
                <c:pt idx="2">
                  <c:v>18.399999999999999</c:v>
                </c:pt>
                <c:pt idx="3">
                  <c:v>20.100000000000001</c:v>
                </c:pt>
                <c:pt idx="4">
                  <c:v>17.3</c:v>
                </c:pt>
                <c:pt idx="5">
                  <c:v>60.8</c:v>
                </c:pt>
                <c:pt idx="6">
                  <c:v>17.600000000000001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5-498B-BA81-0A705D881C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D2137"/>
                </a:solidFill>
                <a:latin typeface="Arial"/>
              </a:rPr>
              <a:t>Plant Height (cm) – 30 &amp; 60 DAS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Height @ 30 DAS (cm)</c:v>
                </c:pt>
              </c:strCache>
            </c:strRef>
          </c:tx>
          <c:spPr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48.47</c:v>
                </c:pt>
                <c:pt idx="1">
                  <c:v>51.53</c:v>
                </c:pt>
                <c:pt idx="2">
                  <c:v>46.38</c:v>
                </c:pt>
                <c:pt idx="3">
                  <c:v>47.58</c:v>
                </c:pt>
                <c:pt idx="4">
                  <c:v>47.2</c:v>
                </c:pt>
                <c:pt idx="5">
                  <c:v>45.44</c:v>
                </c:pt>
                <c:pt idx="6">
                  <c:v>48.6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E4-4074-9D64-62C1ABF242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Height @ 60 DAS (cm)</c:v>
                </c:pt>
              </c:strCache>
            </c:strRef>
          </c:tx>
          <c:spPr>
            <a:ln w="31750" cap="flat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67.64</c:v>
                </c:pt>
                <c:pt idx="1">
                  <c:v>69.5</c:v>
                </c:pt>
                <c:pt idx="2">
                  <c:v>65.09</c:v>
                </c:pt>
                <c:pt idx="3">
                  <c:v>65.099999999999994</c:v>
                </c:pt>
                <c:pt idx="4">
                  <c:v>66.099999999999994</c:v>
                </c:pt>
                <c:pt idx="5">
                  <c:v>63.14</c:v>
                </c:pt>
                <c:pt idx="6">
                  <c:v>58.63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E4-4074-9D64-62C1ABF242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2137"/>
                </a:solidFill>
                <a:latin typeface="Arial"/>
              </a:rPr>
              <a:t>Number of Branches per Plant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Branches @ 30 DAS</c:v>
                </c:pt>
              </c:strCache>
            </c:strRef>
          </c:tx>
          <c:spPr>
            <a:ln w="31750" cap="flat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5.3</c:v>
                </c:pt>
                <c:pt idx="2">
                  <c:v>5.5</c:v>
                </c:pt>
                <c:pt idx="3">
                  <c:v>5.4</c:v>
                </c:pt>
                <c:pt idx="4">
                  <c:v>14.7</c:v>
                </c:pt>
                <c:pt idx="5">
                  <c:v>6.6</c:v>
                </c:pt>
                <c:pt idx="6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42-41E3-ACEC-9EFFAD50ED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Branches @ 60 DAS</c:v>
                </c:pt>
              </c:strCache>
            </c:strRef>
          </c:tx>
          <c:spPr>
            <a:ln w="31750" cap="flat">
              <a:solidFill>
                <a:srgbClr val="C000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0000"/>
              </a:solidFill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45.6</c:v>
                </c:pt>
                <c:pt idx="1">
                  <c:v>37</c:v>
                </c:pt>
                <c:pt idx="2">
                  <c:v>18</c:v>
                </c:pt>
                <c:pt idx="3">
                  <c:v>41.6</c:v>
                </c:pt>
                <c:pt idx="4">
                  <c:v>43.8</c:v>
                </c:pt>
                <c:pt idx="5">
                  <c:v>40</c:v>
                </c:pt>
                <c:pt idx="6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42-41E3-ACEC-9EFFAD50ED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2137"/>
                </a:solidFill>
                <a:latin typeface="Arial"/>
              </a:rPr>
              <a:t>Number of Leaves per Plant – 30 &amp; 60 DAS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Leaves @ 30 DAS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10.6</c:v>
                </c:pt>
                <c:pt idx="1">
                  <c:v>9</c:v>
                </c:pt>
                <c:pt idx="2">
                  <c:v>9.6</c:v>
                </c:pt>
                <c:pt idx="3">
                  <c:v>9.6</c:v>
                </c:pt>
                <c:pt idx="4">
                  <c:v>9</c:v>
                </c:pt>
                <c:pt idx="5">
                  <c:v>9.6999999999999993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E6-494A-B24B-8AF6C38E43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Leaves @ 60 DAS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20.399999999999999</c:v>
                </c:pt>
                <c:pt idx="1">
                  <c:v>20</c:v>
                </c:pt>
                <c:pt idx="2">
                  <c:v>21.6</c:v>
                </c:pt>
                <c:pt idx="3">
                  <c:v>20.6</c:v>
                </c:pt>
                <c:pt idx="4">
                  <c:v>21</c:v>
                </c:pt>
                <c:pt idx="5">
                  <c:v>21</c:v>
                </c:pt>
                <c:pt idx="6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E6-494A-B24B-8AF6C38E43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911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42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15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4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0870" y="522684"/>
            <a:ext cx="6137413" cy="86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969"/>
              </a:lnSpc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UNIVERSITY OF AGRICULTURAL SCIENCES, </a:t>
            </a: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BENGALURU</a:t>
            </a:r>
          </a:p>
          <a:p>
            <a:pPr algn="ctr">
              <a:lnSpc>
                <a:spcPts val="1969"/>
              </a:lnSpc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Inter Bold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1969"/>
              </a:lnSpc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COLLEGE OF AGRICULTURE, GKVK - 560065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969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94" y="1349399"/>
            <a:ext cx="1266593" cy="1120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1237" y="3128591"/>
            <a:ext cx="1862658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01398" y="2530108"/>
            <a:ext cx="3350004" cy="317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69"/>
              </a:lnSpc>
            </a:pPr>
            <a:r>
              <a:rPr lang="en-US" sz="1969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PROJECT REPORT:</a:t>
            </a:r>
            <a:endParaRPr lang="en-US"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60327" y="2960310"/>
            <a:ext cx="3671367" cy="20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5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EAI-421: Application of AI &amp; ML in Agriculture (0+10)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82072" y="3236588"/>
            <a:ext cx="6244855" cy="55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Project </a:t>
            </a:r>
            <a:r>
              <a:rPr lang="en-US" sz="1400" b="1" u="sng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Title</a:t>
            </a:r>
            <a:r>
              <a:rPr lang="en-US" sz="1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Different Levels of Phosphorous on Growth and Yield </a:t>
            </a:r>
            <a:r>
              <a:rPr lang="en-I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Cowpea </a:t>
            </a:r>
            <a:r>
              <a:rPr lang="en-IN" sz="1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Vigna</a:t>
            </a: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unguiculata</a:t>
            </a: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854055" y="4002876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TEAM</a:t>
            </a:r>
            <a:r>
              <a:rPr lang="en-US" sz="12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</a:t>
            </a: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54055" y="4184877"/>
            <a:ext cx="3671367" cy="2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Megharani Sanadi - AMB2136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Nayana N - AMB2153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854055" y="4592345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3. </a:t>
            </a:r>
            <a:r>
              <a:rPr lang="en-US" sz="12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Hari </a:t>
            </a: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chandana C – BMB2021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75235" y="4031687"/>
            <a:ext cx="3671367" cy="249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SUBMITTED</a:t>
            </a:r>
            <a:r>
              <a:rPr lang="en-US" sz="781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125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TO</a:t>
            </a:r>
            <a:r>
              <a:rPr lang="en-US" sz="125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:</a:t>
            </a: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70547" y="4280851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Course Teacher AI&amp;ML in Agriculture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70546" y="4525112"/>
            <a:ext cx="3671367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125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COA, UAS, GKVK-Bengaluru</a:t>
            </a:r>
            <a:r>
              <a:rPr lang="en-US" sz="875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</a:t>
            </a:r>
            <a:endParaRPr lang="en-US" sz="8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668850" y="4156586"/>
            <a:ext cx="5781452" cy="134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31"/>
              </a:lnSpc>
            </a:pPr>
            <a:r>
              <a:rPr lang="en-US" sz="78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 </a:t>
            </a:r>
            <a:endParaRPr lang="en-US" sz="78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75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" y="1080516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94944" y="1269492"/>
            <a:ext cx="7351776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i="1" dirty="0"/>
              <a:t>Field Experiment  ·  </a:t>
            </a:r>
            <a:r>
              <a:rPr lang="en-IN" sz="2000" i="1" dirty="0" err="1"/>
              <a:t>Kharif</a:t>
            </a:r>
            <a:r>
              <a:rPr lang="en-IN" sz="2000" i="1" dirty="0"/>
              <a:t> Season 2024</a:t>
            </a:r>
            <a:endParaRPr lang="en-IN" sz="2000" dirty="0"/>
          </a:p>
          <a:p>
            <a:pPr algn="ctr"/>
            <a:r>
              <a:rPr lang="en-IN" sz="2000" dirty="0"/>
              <a:t>Zonal Agricultural Research Station (ZARS), GKVK</a:t>
            </a:r>
          </a:p>
          <a:p>
            <a:pPr algn="ctr"/>
            <a:r>
              <a:rPr lang="en-IN" sz="2000" dirty="0"/>
              <a:t>University of Agricultural Sciences, Bengaluru</a:t>
            </a:r>
          </a:p>
          <a:p>
            <a:pPr algn="ctr"/>
            <a:r>
              <a:rPr lang="en-IN" sz="2000" i="1" dirty="0"/>
              <a:t>13°05' N  |  77°34' E  |  924 m ASL</a:t>
            </a:r>
            <a:endParaRPr lang="en-IN" sz="2000" dirty="0"/>
          </a:p>
        </p:txBody>
      </p:sp>
      <p:sp>
        <p:nvSpPr>
          <p:cNvPr id="14" name="Shape 12"/>
          <p:cNvSpPr/>
          <p:nvPr/>
        </p:nvSpPr>
        <p:spPr>
          <a:xfrm>
            <a:off x="3078480" y="2442972"/>
            <a:ext cx="3575304" cy="733044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6304" y="2820924"/>
            <a:ext cx="1895856" cy="3931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8986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80944" y="2706624"/>
            <a:ext cx="3672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Tx/>
              <a:buChar char="•"/>
            </a:pPr>
            <a:r>
              <a:rPr lang="en-IN" i="1" dirty="0"/>
              <a:t>Cowpea (</a:t>
            </a:r>
            <a:r>
              <a:rPr lang="en-IN" i="1" dirty="0" err="1"/>
              <a:t>Vigna</a:t>
            </a:r>
            <a:r>
              <a:rPr lang="en-IN" i="1" dirty="0"/>
              <a:t> </a:t>
            </a:r>
            <a:r>
              <a:rPr lang="en-IN" i="1" dirty="0" err="1"/>
              <a:t>unguiculata</a:t>
            </a:r>
            <a:r>
              <a:rPr lang="en-IN" i="1" dirty="0"/>
              <a:t>)   |   Variety: KBC-9   |   Design: RCBD</a:t>
            </a:r>
            <a:endParaRPr lang="en-IN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78480" y="3264408"/>
            <a:ext cx="3575304" cy="627888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6304" y="3384804"/>
            <a:ext cx="2398776" cy="429768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" y="34716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400" i="1" dirty="0">
                <a:solidFill>
                  <a:schemeClr val="bg1"/>
                </a:solidFill>
              </a:rPr>
              <a:t>Treatments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32760" y="3367278"/>
            <a:ext cx="3305556" cy="605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IN" i="1" dirty="0"/>
              <a:t>: 7 (T1 – T7)   |   Replications: 3   |   Spacing: 30 × 10 cm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32760" y="4060698"/>
            <a:ext cx="3621024" cy="735330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58496" y="4113276"/>
            <a:ext cx="2386584" cy="371856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4" name="Text 22"/>
          <p:cNvSpPr/>
          <p:nvPr/>
        </p:nvSpPr>
        <p:spPr>
          <a:xfrm>
            <a:off x="208788" y="41864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i="1" dirty="0">
                <a:solidFill>
                  <a:schemeClr val="bg1"/>
                </a:solidFill>
              </a:rPr>
              <a:t>Data Visualization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26080" y="4102608"/>
            <a:ext cx="3727704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IN" i="1" dirty="0"/>
              <a:t>Python 3 · </a:t>
            </a:r>
            <a:r>
              <a:rPr lang="en-IN" i="1" dirty="0" err="1"/>
              <a:t>Matplotlib</a:t>
            </a:r>
            <a:r>
              <a:rPr lang="en-IN" i="1" dirty="0"/>
              <a:t>   |   Statistics: ANOVA under RCBD</a:t>
            </a:r>
            <a:endParaRPr lang="en-US" sz="1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3" y="33106"/>
            <a:ext cx="9144793" cy="963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309641"/>
              </p:ext>
            </p:extLst>
          </p:nvPr>
        </p:nvGraphicFramePr>
        <p:xfrm>
          <a:off x="371913" y="86747"/>
          <a:ext cx="8176469" cy="4506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4829">
                  <a:extLst>
                    <a:ext uri="{9D8B030D-6E8A-4147-A177-3AD203B41FA5}">
                      <a16:colId xmlns:a16="http://schemas.microsoft.com/office/drawing/2014/main" val="1480200182"/>
                    </a:ext>
                  </a:extLst>
                </a:gridCol>
                <a:gridCol w="3931640">
                  <a:extLst>
                    <a:ext uri="{9D8B030D-6E8A-4147-A177-3AD203B41FA5}">
                      <a16:colId xmlns:a16="http://schemas.microsoft.com/office/drawing/2014/main" val="1787748471"/>
                    </a:ext>
                  </a:extLst>
                </a:gridCol>
              </a:tblGrid>
              <a:tr h="45789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  <a:endParaRPr lang="en-IN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216699"/>
                  </a:ext>
                </a:extLst>
              </a:tr>
              <a:tr h="4536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Abstract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Introduction</a:t>
                      </a:r>
                      <a:endParaRPr lang="en-US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</a:t>
                      </a:r>
                      <a:r>
                        <a:rPr lang="en-US" sz="1800" b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Visualisation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— Yield Charts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081638"/>
                  </a:ext>
                </a:extLst>
              </a:tr>
              <a:tr h="4846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Review of Literature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 </a:t>
                      </a:r>
                      <a:r>
                        <a:rPr lang="en-US" sz="1800" b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Visualisation</a:t>
                      </a: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— Growth Charts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899020"/>
                  </a:ext>
                </a:extLst>
              </a:tr>
              <a:tr h="457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Materials &amp; Methods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Discussion &amp; Key Observations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605887"/>
                  </a:ext>
                </a:extLst>
              </a:tr>
              <a:tr h="457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Calendar of Operations &amp; Data Pipeline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Conclusions, Future Scope &amp; References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271893"/>
                  </a:ext>
                </a:extLst>
              </a:tr>
              <a:tr h="457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Results: Vegetative Growth Parameters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763719"/>
                  </a:ext>
                </a:extLst>
              </a:tr>
              <a:tr h="457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Yield Parameters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177700"/>
                  </a:ext>
                </a:extLst>
              </a:tr>
              <a:tr h="457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Statistical Analysis — ANOVA under RCBD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41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17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Introduction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Cowpea? Why Phosphorous?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7472" y="1106424"/>
            <a:ext cx="8631936" cy="1170432"/>
          </a:xfrm>
          <a:prstGeom prst="rect">
            <a:avLst/>
          </a:prstGeom>
          <a:solidFill>
            <a:srgbClr val="E8F5E9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115568"/>
            <a:ext cx="64008" cy="1170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8620" y="1385316"/>
            <a:ext cx="8366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experiment at ZARS, GKVK, UAS Bengaluru (Kharif 2024) investigated the effect of seven phosphorous levels (50–200% RDP + 100% RDF NPK control) on cowpea (Vigna unguiculata, var. KBC-9). Laid out in RCBD with 3 replications, the study recorded growth (plant height, leaves, branches at 30 &amp; 60 DAS) and yield (pods/plant, seed yield). ANOVA confirmed highly significant yield effects (F = 345.54). T6 (175% RDP) gave the highest seed yield (340 g) and pod count (60.8/plant).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395728"/>
            <a:ext cx="2834640" cy="2395728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423160"/>
            <a:ext cx="2834640" cy="310896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4323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Profile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" y="2761488"/>
            <a:ext cx="265176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Warm-season legume, origin: Africa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heat, drought &amp; sandy soils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food grain, fodder &amp; vegetable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'Poor Man's Meat' — affordable protein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KBC-9 variety, Kharif 2024, 30 × 10 cm spacing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2395728"/>
            <a:ext cx="2834640" cy="2395728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2395728"/>
            <a:ext cx="2834640" cy="310896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24323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Value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10128" y="2761488"/>
            <a:ext cx="265176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23–25% protein in mature dry seeds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carbohydrates, 1.3% fat, 3.5% minerals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fixes up to 88 kg N/ha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Nutritionally complementary to cereals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 to food security in semi-arid zones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2395728"/>
            <a:ext cx="2834640" cy="2395728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2395728"/>
            <a:ext cx="2834640" cy="310896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24323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Phosphorous?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2784" y="2761488"/>
            <a:ext cx="2651760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yield-limiting macronutrient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root nodulation &amp; seed filling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biomass &amp; reproductive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Sub-optimal P → yield loss; excess → waste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dose identification = research goal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4521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Findings on Phosphorous &amp; Cowpea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4224528" cy="1426464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78992"/>
            <a:ext cx="4224528" cy="310896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1155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Plant Height &amp; Branching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7472" y="1444752"/>
            <a:ext cx="404164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&amp; Mishra (2001): P up to 90 kg P₂O₅/ha significantly increased plant height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et al. (2007): 60 kg P₂O₅/ha optimal for height; Jat et al. (2013): 40 kg P₂O₅/ha effective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et al. (2015): 80 kg P₂O₅/ha maximised branching (7.81 branches/plant at 45 DAS)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615184"/>
            <a:ext cx="4224528" cy="1389888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615184"/>
            <a:ext cx="4224528" cy="310896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65176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Yield &amp; Dry Matter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" y="2980944"/>
            <a:ext cx="404164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Bhilare &amp; Patil (2002): 60 kg P₂O₅/ha → highest dry matter (48 q/ha)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Karikari et al. (2015): Positive yield response to P across soil types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Baura (2020): Diminishing returns beyond optimum P; Daramy et al. (2017): Synergistic N+P effect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36592" y="1078992"/>
            <a:ext cx="4206240" cy="2926080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1078992"/>
            <a:ext cx="4206240" cy="31089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10972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Evidence Timeline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736592" y="1481328"/>
            <a:ext cx="420624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527048"/>
            <a:ext cx="475488" cy="25603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53619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66944" y="15179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et al.: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66944" y="1664208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20-24%, carbs 63.3%, fat 1.9% in cowpea seeds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1865376"/>
            <a:ext cx="4206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1911096"/>
            <a:ext cx="475488" cy="25603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92024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66944" y="19019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&amp; Mishra: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66944" y="2048256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up to 90 kg P₂O₅/ha improves plant height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2249424"/>
            <a:ext cx="420624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2295144"/>
            <a:ext cx="475488" cy="25603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30428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66944" y="22860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Bhilare &amp; Patil: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66944" y="2432304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kg P₂O₅/ha → max dry matter accumulation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36592" y="2633472"/>
            <a:ext cx="4206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754880" y="2679192"/>
            <a:ext cx="475488" cy="25603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68833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66944" y="2670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&amp; Jadav: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66944" y="2816352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+ Rhizobium reduces days to flowering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3017520"/>
            <a:ext cx="420624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3063240"/>
            <a:ext cx="475488" cy="25603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07238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66944" y="30540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Karikari et al.: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66944" y="3200400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yield response to P across soil types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36592" y="3401568"/>
            <a:ext cx="4206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754880" y="3447288"/>
            <a:ext cx="475488" cy="25603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8" name="Text 46"/>
          <p:cNvSpPr/>
          <p:nvPr/>
        </p:nvSpPr>
        <p:spPr>
          <a:xfrm>
            <a:off x="4754880" y="34564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66944" y="34381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Baura: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66944" y="3584448"/>
            <a:ext cx="3602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beyond optimal P dose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6032" y="4114800"/>
            <a:ext cx="8631936" cy="62179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2" name="Text 50"/>
          <p:cNvSpPr/>
          <p:nvPr/>
        </p:nvSpPr>
        <p:spPr>
          <a:xfrm>
            <a:off x="347472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Seed Composition: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468880" y="4151376"/>
            <a:ext cx="1417320" cy="54864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54" name="Text 52"/>
          <p:cNvSpPr/>
          <p:nvPr/>
        </p:nvSpPr>
        <p:spPr>
          <a:xfrm>
            <a:off x="2468880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468880" y="43708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23–25%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023360" y="4151376"/>
            <a:ext cx="1417320" cy="548640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57" name="Text 55"/>
          <p:cNvSpPr/>
          <p:nvPr/>
        </p:nvSpPr>
        <p:spPr>
          <a:xfrm>
            <a:off x="4023360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023360" y="43708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577840" y="4151376"/>
            <a:ext cx="1417320" cy="5486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0" name="Text 58"/>
          <p:cNvSpPr/>
          <p:nvPr/>
        </p:nvSpPr>
        <p:spPr>
          <a:xfrm>
            <a:off x="5577840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577840" y="43708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132320" y="4151376"/>
            <a:ext cx="1417320" cy="54864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0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132320" y="43708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 · Design · Treatments · Timeline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4114800" cy="3547872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78992"/>
            <a:ext cx="4114800" cy="310896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Details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408176"/>
            <a:ext cx="4114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" y="146304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91056" y="1463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(Vigna unguiculata)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" y="179222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91056" y="17922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KBC-9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" y="2066544"/>
            <a:ext cx="4114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" y="21214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91056" y="21214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2024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" y="2450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91056" y="24505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2724912"/>
            <a:ext cx="4114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" y="27797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91056" y="277977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(T1–T7)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" y="3108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91056" y="310896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(R1, R2, R3)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" y="3383280"/>
            <a:ext cx="4114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" y="343814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91056" y="343814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10 cm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" y="37673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Size: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91056" y="37673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 × 1 m (gross)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6032" y="4041648"/>
            <a:ext cx="4114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" y="40965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Size: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91056" y="409651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m × 3.6 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9184" y="44256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Coordinates: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591056" y="442569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13°05′ N, 77°34′ E, 924 m ASL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1078992"/>
            <a:ext cx="4279392" cy="2103120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1078992"/>
            <a:ext cx="4279392" cy="310896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109728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Details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617720" y="1408176"/>
            <a:ext cx="427939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14447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1444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NPK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73952" y="1444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17720" y="1664208"/>
            <a:ext cx="4279392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170078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17007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RDP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73952" y="17007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dose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1920240"/>
            <a:ext cx="427939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19568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0" y="19568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RDP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73952" y="19568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dose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17720" y="2176272"/>
            <a:ext cx="4279392" cy="256032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221284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0" y="22128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125% RDP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73952" y="22128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– lowest yield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17720" y="2432304"/>
            <a:ext cx="427939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8" name="Text 56"/>
          <p:cNvSpPr/>
          <p:nvPr/>
        </p:nvSpPr>
        <p:spPr>
          <a:xfrm>
            <a:off x="4663440" y="24688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29200" y="24688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 RDP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73952" y="24688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recommended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17720" y="2688336"/>
            <a:ext cx="4279392" cy="256032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62" name="Text 60"/>
          <p:cNvSpPr/>
          <p:nvPr/>
        </p:nvSpPr>
        <p:spPr>
          <a:xfrm>
            <a:off x="4663440" y="272491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29200" y="27249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175% RDP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73952" y="27249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– highest yield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617720" y="2944368"/>
            <a:ext cx="4279392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6" name="Text 64"/>
          <p:cNvSpPr/>
          <p:nvPr/>
        </p:nvSpPr>
        <p:spPr>
          <a:xfrm>
            <a:off x="4663440" y="298094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029200" y="298094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 RDP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73952" y="29809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dose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617720" y="3291840"/>
            <a:ext cx="4279392" cy="1664208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17720" y="3291840"/>
            <a:ext cx="4279392" cy="2743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1" name="Text 69"/>
          <p:cNvSpPr/>
          <p:nvPr/>
        </p:nvSpPr>
        <p:spPr>
          <a:xfrm>
            <a:off x="4681728" y="33009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Field Layout (Schematic)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736592" y="3639312"/>
            <a:ext cx="1234440" cy="1828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3" name="Text 71"/>
          <p:cNvSpPr/>
          <p:nvPr/>
        </p:nvSpPr>
        <p:spPr>
          <a:xfrm>
            <a:off x="4736592" y="3639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36592" y="3840480"/>
            <a:ext cx="155448" cy="8046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5" name="Text 73"/>
          <p:cNvSpPr/>
          <p:nvPr/>
        </p:nvSpPr>
        <p:spPr>
          <a:xfrm>
            <a:off x="4736592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910328" y="3840480"/>
            <a:ext cx="155448" cy="8046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7" name="Text 75"/>
          <p:cNvSpPr/>
          <p:nvPr/>
        </p:nvSpPr>
        <p:spPr>
          <a:xfrm>
            <a:off x="4910328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5084064" y="3840480"/>
            <a:ext cx="155448" cy="804672"/>
          </a:xfrm>
          <a:prstGeom prst="rect">
            <a:avLst/>
          </a:prstGeom>
          <a:solidFill>
            <a:srgbClr val="4BACC6"/>
          </a:solidFill>
          <a:ln/>
        </p:spPr>
      </p:sp>
      <p:sp>
        <p:nvSpPr>
          <p:cNvPr id="79" name="Text 77"/>
          <p:cNvSpPr/>
          <p:nvPr/>
        </p:nvSpPr>
        <p:spPr>
          <a:xfrm>
            <a:off x="5084064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257800" y="3840480"/>
            <a:ext cx="155448" cy="804672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81" name="Text 79"/>
          <p:cNvSpPr/>
          <p:nvPr/>
        </p:nvSpPr>
        <p:spPr>
          <a:xfrm>
            <a:off x="5257800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431536" y="3840480"/>
            <a:ext cx="155448" cy="80467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3" name="Text 81"/>
          <p:cNvSpPr/>
          <p:nvPr/>
        </p:nvSpPr>
        <p:spPr>
          <a:xfrm>
            <a:off x="5431536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605272" y="3840480"/>
            <a:ext cx="155448" cy="804672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85" name="Text 83"/>
          <p:cNvSpPr/>
          <p:nvPr/>
        </p:nvSpPr>
        <p:spPr>
          <a:xfrm>
            <a:off x="5605272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779008" y="3840480"/>
            <a:ext cx="155448" cy="8046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87" name="Text 85"/>
          <p:cNvSpPr/>
          <p:nvPr/>
        </p:nvSpPr>
        <p:spPr>
          <a:xfrm>
            <a:off x="5779008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108192" y="3639312"/>
            <a:ext cx="1234440" cy="1828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9" name="Text 87"/>
          <p:cNvSpPr/>
          <p:nvPr/>
        </p:nvSpPr>
        <p:spPr>
          <a:xfrm>
            <a:off x="6108192" y="3639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108192" y="3840480"/>
            <a:ext cx="155448" cy="8046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1" name="Text 89"/>
          <p:cNvSpPr/>
          <p:nvPr/>
        </p:nvSpPr>
        <p:spPr>
          <a:xfrm>
            <a:off x="6108192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281928" y="3840480"/>
            <a:ext cx="155448" cy="8046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93" name="Text 91"/>
          <p:cNvSpPr/>
          <p:nvPr/>
        </p:nvSpPr>
        <p:spPr>
          <a:xfrm>
            <a:off x="6281928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455664" y="3840480"/>
            <a:ext cx="155448" cy="804672"/>
          </a:xfrm>
          <a:prstGeom prst="rect">
            <a:avLst/>
          </a:prstGeom>
          <a:solidFill>
            <a:srgbClr val="4BACC6"/>
          </a:solidFill>
          <a:ln/>
        </p:spPr>
      </p:sp>
      <p:sp>
        <p:nvSpPr>
          <p:cNvPr id="95" name="Text 93"/>
          <p:cNvSpPr/>
          <p:nvPr/>
        </p:nvSpPr>
        <p:spPr>
          <a:xfrm>
            <a:off x="6455664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629400" y="3840480"/>
            <a:ext cx="155448" cy="804672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97" name="Text 95"/>
          <p:cNvSpPr/>
          <p:nvPr/>
        </p:nvSpPr>
        <p:spPr>
          <a:xfrm>
            <a:off x="6629400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803136" y="3840480"/>
            <a:ext cx="155448" cy="80467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99" name="Text 97"/>
          <p:cNvSpPr/>
          <p:nvPr/>
        </p:nvSpPr>
        <p:spPr>
          <a:xfrm>
            <a:off x="6803136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976872" y="3840480"/>
            <a:ext cx="155448" cy="804672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01" name="Text 99"/>
          <p:cNvSpPr/>
          <p:nvPr/>
        </p:nvSpPr>
        <p:spPr>
          <a:xfrm>
            <a:off x="6976872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150608" y="3840480"/>
            <a:ext cx="155448" cy="8046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3" name="Text 101"/>
          <p:cNvSpPr/>
          <p:nvPr/>
        </p:nvSpPr>
        <p:spPr>
          <a:xfrm>
            <a:off x="7150608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479792" y="3639312"/>
            <a:ext cx="1234440" cy="1828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05" name="Text 103"/>
          <p:cNvSpPr/>
          <p:nvPr/>
        </p:nvSpPr>
        <p:spPr>
          <a:xfrm>
            <a:off x="7479792" y="3639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7479792" y="3840480"/>
            <a:ext cx="155448" cy="8046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07" name="Text 105"/>
          <p:cNvSpPr/>
          <p:nvPr/>
        </p:nvSpPr>
        <p:spPr>
          <a:xfrm>
            <a:off x="7479792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653528" y="3840480"/>
            <a:ext cx="155448" cy="8046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9" name="Text 107"/>
          <p:cNvSpPr/>
          <p:nvPr/>
        </p:nvSpPr>
        <p:spPr>
          <a:xfrm>
            <a:off x="7653528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7827264" y="3840480"/>
            <a:ext cx="155448" cy="804672"/>
          </a:xfrm>
          <a:prstGeom prst="rect">
            <a:avLst/>
          </a:prstGeom>
          <a:solidFill>
            <a:srgbClr val="4BACC6"/>
          </a:solidFill>
          <a:ln/>
        </p:spPr>
      </p:sp>
      <p:sp>
        <p:nvSpPr>
          <p:cNvPr id="111" name="Text 109"/>
          <p:cNvSpPr/>
          <p:nvPr/>
        </p:nvSpPr>
        <p:spPr>
          <a:xfrm>
            <a:off x="7827264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8001000" y="3840480"/>
            <a:ext cx="155448" cy="804672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13" name="Text 111"/>
          <p:cNvSpPr/>
          <p:nvPr/>
        </p:nvSpPr>
        <p:spPr>
          <a:xfrm>
            <a:off x="8001000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8174736" y="3840480"/>
            <a:ext cx="155448" cy="80467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15" name="Text 113"/>
          <p:cNvSpPr/>
          <p:nvPr/>
        </p:nvSpPr>
        <p:spPr>
          <a:xfrm>
            <a:off x="8174736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8348472" y="3840480"/>
            <a:ext cx="155448" cy="804672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8348472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8522208" y="3840480"/>
            <a:ext cx="155448" cy="8046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9" name="Text 117"/>
          <p:cNvSpPr/>
          <p:nvPr/>
        </p:nvSpPr>
        <p:spPr>
          <a:xfrm>
            <a:off x="8522208" y="4169664"/>
            <a:ext cx="155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4617720" y="4773168"/>
            <a:ext cx="4279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block: 7 plots (1m×1m) · Treatments randomly assigned · 0.3m inter-block bunds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of Operations &amp; Data Pipeline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 Timeline  ·  Data Collection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097280"/>
            <a:ext cx="868680" cy="676656"/>
          </a:xfrm>
          <a:prstGeom prst="rect">
            <a:avLst/>
          </a:prstGeom>
          <a:solidFill>
            <a:srgbClr val="0D213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24712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5296" y="1097280"/>
            <a:ext cx="868680" cy="676656"/>
          </a:xfrm>
          <a:prstGeom prst="rect">
            <a:avLst/>
          </a:prstGeom>
          <a:solidFill>
            <a:srgbClr val="0A6E7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25296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25296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93976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4560" y="1097280"/>
            <a:ext cx="868680" cy="676656"/>
          </a:xfrm>
          <a:prstGeom prst="rect">
            <a:avLst/>
          </a:prstGeom>
          <a:solidFill>
            <a:srgbClr val="2D7D4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94560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Fertiliser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63240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Shape 20"/>
          <p:cNvSpPr/>
          <p:nvPr/>
        </p:nvSpPr>
        <p:spPr>
          <a:xfrm>
            <a:off x="3163824" y="1097280"/>
            <a:ext cx="868680" cy="676656"/>
          </a:xfrm>
          <a:prstGeom prst="rect">
            <a:avLst/>
          </a:prstGeom>
          <a:solidFill>
            <a:srgbClr val="0A6E7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163824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63824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32504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Shape 24"/>
          <p:cNvSpPr/>
          <p:nvPr/>
        </p:nvSpPr>
        <p:spPr>
          <a:xfrm>
            <a:off x="4133088" y="1097280"/>
            <a:ext cx="868680" cy="676656"/>
          </a:xfrm>
          <a:prstGeom prst="rect">
            <a:avLst/>
          </a:prstGeom>
          <a:solidFill>
            <a:srgbClr val="D4A01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33088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33088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Obs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01768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Shape 28"/>
          <p:cNvSpPr/>
          <p:nvPr/>
        </p:nvSpPr>
        <p:spPr>
          <a:xfrm>
            <a:off x="5102352" y="1097280"/>
            <a:ext cx="868680" cy="676656"/>
          </a:xfrm>
          <a:prstGeom prst="rect">
            <a:avLst/>
          </a:prstGeom>
          <a:solidFill>
            <a:srgbClr val="8B451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02352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02352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71032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4" name="Shape 32"/>
          <p:cNvSpPr/>
          <p:nvPr/>
        </p:nvSpPr>
        <p:spPr>
          <a:xfrm>
            <a:off x="6071616" y="1097280"/>
            <a:ext cx="868680" cy="676656"/>
          </a:xfrm>
          <a:prstGeom prst="rect">
            <a:avLst/>
          </a:prstGeom>
          <a:solidFill>
            <a:srgbClr val="D4A01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071616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71616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940296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0880" y="1097280"/>
            <a:ext cx="868680" cy="676656"/>
          </a:xfrm>
          <a:prstGeom prst="rect">
            <a:avLst/>
          </a:prstGeom>
          <a:solidFill>
            <a:srgbClr val="D4A01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0880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4088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Yield Init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09560" y="1412748"/>
            <a:ext cx="100584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2" name="Shape 40"/>
          <p:cNvSpPr/>
          <p:nvPr/>
        </p:nvSpPr>
        <p:spPr>
          <a:xfrm>
            <a:off x="8010144" y="1097280"/>
            <a:ext cx="868680" cy="676656"/>
          </a:xfrm>
          <a:prstGeom prst="rect">
            <a:avLst/>
          </a:prstGeom>
          <a:solidFill>
            <a:srgbClr val="C0392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010144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10144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Weigh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56032" y="1938528"/>
            <a:ext cx="4206240" cy="1463040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1938528"/>
            <a:ext cx="4206240" cy="310896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19751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Parameters Recorded (30, 45, 60 DAS)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7472" y="2304288"/>
            <a:ext cx="4023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 (cm) — metric scale, base to shoot tip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leaves/plant — manual count, 5 tagged plants/treatment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branches/plant — all primary branches counted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at 3 time-points: 30 DAS, 45 DAS, 60 DAS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6032" y="3511296"/>
            <a:ext cx="4206240" cy="1298448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56032" y="3511296"/>
            <a:ext cx="4206240" cy="310896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51" name="Text 49"/>
          <p:cNvSpPr/>
          <p:nvPr/>
        </p:nvSpPr>
        <p:spPr>
          <a:xfrm>
            <a:off x="347472" y="35478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Parameters Recorded (Harvest)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7472" y="3877056"/>
            <a:ext cx="4023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of pods per plant (at 60 DAS and at harvest)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weight (g) — all plants per 1m² plot weighed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weight (g) and Straw weight (g) via electronic balance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09160" y="1938528"/>
            <a:ext cx="4224528" cy="2871216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09160" y="1938528"/>
            <a:ext cx="4224528" cy="29260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55" name="Text 53"/>
          <p:cNvSpPr/>
          <p:nvPr/>
        </p:nvSpPr>
        <p:spPr>
          <a:xfrm>
            <a:off x="4782312" y="1956816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Computation Pipeline (ANOVA under RCBD)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09160" y="2286000"/>
            <a:ext cx="4224528" cy="3840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7" name="Shape 55"/>
          <p:cNvSpPr/>
          <p:nvPr/>
        </p:nvSpPr>
        <p:spPr>
          <a:xfrm>
            <a:off x="4709160" y="2286000"/>
            <a:ext cx="566928" cy="38404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23774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21808" y="2313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Factor (CF):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21808" y="246888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(Grand Total)² ÷ N = 25,000,000 ÷ 21 = 1,190,476.19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709160" y="2688336"/>
            <a:ext cx="422452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4709160" y="2688336"/>
            <a:ext cx="566928" cy="38404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63" name="Text 61"/>
          <p:cNvSpPr/>
          <p:nvPr/>
        </p:nvSpPr>
        <p:spPr>
          <a:xfrm>
            <a:off x="4709160" y="27797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321808" y="2715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SS (TSS):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21808" y="2871216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SS − CF = 1,307,200 − CF = 116,723.81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709160" y="3090672"/>
            <a:ext cx="4224528" cy="3840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7" name="Shape 65"/>
          <p:cNvSpPr/>
          <p:nvPr/>
        </p:nvSpPr>
        <p:spPr>
          <a:xfrm>
            <a:off x="4709160" y="3090672"/>
            <a:ext cx="566928" cy="38404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68" name="Text 66"/>
          <p:cNvSpPr/>
          <p:nvPr/>
        </p:nvSpPr>
        <p:spPr>
          <a:xfrm>
            <a:off x="4709160" y="31821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321808" y="31181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SS: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321808" y="327355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SS raw − CF = 1,214,085.71 − CF = 23,609.50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709160" y="3493008"/>
            <a:ext cx="422452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4709160" y="3493008"/>
            <a:ext cx="566928" cy="38404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73" name="Text 71"/>
          <p:cNvSpPr/>
          <p:nvPr/>
        </p:nvSpPr>
        <p:spPr>
          <a:xfrm>
            <a:off x="4709160" y="35844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321808" y="35204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SS: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321808" y="3675888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SS raw − CF = 1,247,000 − CF = 56,523.81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709160" y="3895344"/>
            <a:ext cx="4224528" cy="3840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7" name="Shape 75"/>
          <p:cNvSpPr/>
          <p:nvPr/>
        </p:nvSpPr>
        <p:spPr>
          <a:xfrm>
            <a:off x="4709160" y="3895344"/>
            <a:ext cx="566928" cy="38404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78" name="Text 76"/>
          <p:cNvSpPr/>
          <p:nvPr/>
        </p:nvSpPr>
        <p:spPr>
          <a:xfrm>
            <a:off x="4709160" y="39867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321808" y="39227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SS: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321808" y="4078224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 − RSS − TrSS = 36,590.48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709160" y="4297680"/>
            <a:ext cx="4224528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4709160" y="4297680"/>
            <a:ext cx="566928" cy="38404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83" name="Text 81"/>
          <p:cNvSpPr/>
          <p:nvPr/>
        </p:nvSpPr>
        <p:spPr>
          <a:xfrm>
            <a:off x="4709160" y="43891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321808" y="43251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F-test: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5321808" y="448056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F-calc vs F-table at 5% &amp; 1% levels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Vegetative Growth Parameters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 · Leaves · Branches  —  F-test: Non-Significant (NS)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8631936" cy="347472"/>
          </a:xfrm>
          <a:prstGeom prst="rect">
            <a:avLst/>
          </a:prstGeom>
          <a:solidFill>
            <a:srgbClr val="FFF8E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78992"/>
            <a:ext cx="64008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09728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Phosphorous level did NOT significantly affect vegetative parameters across all 7 treatments. F-test NS for plant height, leaves and branches at both 30 DAS and 60 DAS.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508760"/>
            <a:ext cx="169164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" y="1527048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47672" y="1508760"/>
            <a:ext cx="768096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6" name="Text 14"/>
          <p:cNvSpPr/>
          <p:nvPr/>
        </p:nvSpPr>
        <p:spPr>
          <a:xfrm>
            <a:off x="1975104" y="15270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 30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(cm)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15768" y="1508760"/>
            <a:ext cx="768096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152704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 60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(cm)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83864" y="1508760"/>
            <a:ext cx="68580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3511296" y="1527048"/>
            <a:ext cx="63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9664" y="1508760"/>
            <a:ext cx="685800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4197096" y="1527048"/>
            <a:ext cx="63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55464" y="1508760"/>
            <a:ext cx="804672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1527048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0136" y="1508760"/>
            <a:ext cx="804672" cy="4114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5687568" y="1527048"/>
            <a:ext cx="74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1938528"/>
            <a:ext cx="169164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" y="195681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100% RDF NPK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947672" y="1938528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1975104" y="19568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15768" y="1938528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19568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83864" y="1938528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4" name="Text 32"/>
          <p:cNvSpPr/>
          <p:nvPr/>
        </p:nvSpPr>
        <p:spPr>
          <a:xfrm>
            <a:off x="3511296" y="1956816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69664" y="1938528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6" name="Text 34"/>
          <p:cNvSpPr/>
          <p:nvPr/>
        </p:nvSpPr>
        <p:spPr>
          <a:xfrm>
            <a:off x="4197096" y="1956816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55464" y="1938528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4882896" y="19568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0136" y="1938528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8"/>
          <p:cNvSpPr/>
          <p:nvPr/>
        </p:nvSpPr>
        <p:spPr>
          <a:xfrm>
            <a:off x="5687568" y="19568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" y="2267712"/>
            <a:ext cx="1691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83464" y="228600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– 50% RDP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947672" y="2267712"/>
            <a:ext cx="768096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975104" y="2286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15768" y="2267712"/>
            <a:ext cx="768096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0" y="22860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483864" y="2267712"/>
            <a:ext cx="685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511296" y="228600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69664" y="2267712"/>
            <a:ext cx="685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197096" y="228600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55464" y="2267712"/>
            <a:ext cx="8046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882896" y="2286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60136" y="2267712"/>
            <a:ext cx="8046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5687568" y="2286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56032" y="2596896"/>
            <a:ext cx="169164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6" name="Text 54"/>
          <p:cNvSpPr/>
          <p:nvPr/>
        </p:nvSpPr>
        <p:spPr>
          <a:xfrm>
            <a:off x="283464" y="261518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– 75% RDP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947672" y="2596896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8" name="Text 56"/>
          <p:cNvSpPr/>
          <p:nvPr/>
        </p:nvSpPr>
        <p:spPr>
          <a:xfrm>
            <a:off x="1975104" y="26151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46.38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715768" y="2596896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0" y="26151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483864" y="2596896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2" name="Text 60"/>
          <p:cNvSpPr/>
          <p:nvPr/>
        </p:nvSpPr>
        <p:spPr>
          <a:xfrm>
            <a:off x="3511296" y="2615184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169664" y="2596896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4" name="Text 62"/>
          <p:cNvSpPr/>
          <p:nvPr/>
        </p:nvSpPr>
        <p:spPr>
          <a:xfrm>
            <a:off x="4197096" y="2615184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855464" y="2596896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6" name="Text 64"/>
          <p:cNvSpPr/>
          <p:nvPr/>
        </p:nvSpPr>
        <p:spPr>
          <a:xfrm>
            <a:off x="4882896" y="26151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660136" y="2596896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8" name="Text 66"/>
          <p:cNvSpPr/>
          <p:nvPr/>
        </p:nvSpPr>
        <p:spPr>
          <a:xfrm>
            <a:off x="5687568" y="26151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56032" y="2926080"/>
            <a:ext cx="1691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283464" y="29443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– 125% RDP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947672" y="2926080"/>
            <a:ext cx="768096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1975104" y="2944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47.58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715768" y="2926080"/>
            <a:ext cx="768096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2743200" y="2944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65.10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483864" y="2926080"/>
            <a:ext cx="685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3511296" y="2944368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169664" y="2926080"/>
            <a:ext cx="685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4197096" y="2944368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855464" y="2926080"/>
            <a:ext cx="8046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4882896" y="29443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5660136" y="2926080"/>
            <a:ext cx="8046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5687568" y="29443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56032" y="3255264"/>
            <a:ext cx="169164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4" name="Text 82"/>
          <p:cNvSpPr/>
          <p:nvPr/>
        </p:nvSpPr>
        <p:spPr>
          <a:xfrm>
            <a:off x="283464" y="3273552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– 150% RDP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1947672" y="3255264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6" name="Text 84"/>
          <p:cNvSpPr/>
          <p:nvPr/>
        </p:nvSpPr>
        <p:spPr>
          <a:xfrm>
            <a:off x="1975104" y="32735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2715768" y="3255264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8" name="Text 86"/>
          <p:cNvSpPr/>
          <p:nvPr/>
        </p:nvSpPr>
        <p:spPr>
          <a:xfrm>
            <a:off x="2743200" y="32735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66.10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3483864" y="3255264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0" name="Text 88"/>
          <p:cNvSpPr/>
          <p:nvPr/>
        </p:nvSpPr>
        <p:spPr>
          <a:xfrm>
            <a:off x="3511296" y="327355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4169664" y="3255264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2" name="Text 90"/>
          <p:cNvSpPr/>
          <p:nvPr/>
        </p:nvSpPr>
        <p:spPr>
          <a:xfrm>
            <a:off x="4197096" y="327355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855464" y="3255264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4" name="Text 92"/>
          <p:cNvSpPr/>
          <p:nvPr/>
        </p:nvSpPr>
        <p:spPr>
          <a:xfrm>
            <a:off x="4882896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5660136" y="3255264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6" name="Text 94"/>
          <p:cNvSpPr/>
          <p:nvPr/>
        </p:nvSpPr>
        <p:spPr>
          <a:xfrm>
            <a:off x="5687568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256032" y="3584448"/>
            <a:ext cx="1691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283464" y="360273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– 175% RDP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1947672" y="3584448"/>
            <a:ext cx="768096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1975104" y="36027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45.44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2715768" y="3584448"/>
            <a:ext cx="768096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2743200" y="360273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63.14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3483864" y="3584448"/>
            <a:ext cx="685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3511296" y="3602736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169664" y="3584448"/>
            <a:ext cx="685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4197096" y="3602736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855464" y="3584448"/>
            <a:ext cx="8046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4882896" y="36027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5660136" y="3584448"/>
            <a:ext cx="80467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5687568" y="36027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256032" y="3913632"/>
            <a:ext cx="169164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2" name="Text 110"/>
          <p:cNvSpPr/>
          <p:nvPr/>
        </p:nvSpPr>
        <p:spPr>
          <a:xfrm>
            <a:off x="283464" y="39319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– 200% RDP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1947672" y="3913632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4" name="Text 112"/>
          <p:cNvSpPr/>
          <p:nvPr/>
        </p:nvSpPr>
        <p:spPr>
          <a:xfrm>
            <a:off x="1975104" y="39319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48.60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2715768" y="3913632"/>
            <a:ext cx="768096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6" name="Text 114"/>
          <p:cNvSpPr/>
          <p:nvPr/>
        </p:nvSpPr>
        <p:spPr>
          <a:xfrm>
            <a:off x="2743200" y="39319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58.63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3483864" y="3913632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8" name="Text 116"/>
          <p:cNvSpPr/>
          <p:nvPr/>
        </p:nvSpPr>
        <p:spPr>
          <a:xfrm>
            <a:off x="3511296" y="393192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4169664" y="3913632"/>
            <a:ext cx="68580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0" name="Text 118"/>
          <p:cNvSpPr/>
          <p:nvPr/>
        </p:nvSpPr>
        <p:spPr>
          <a:xfrm>
            <a:off x="4197096" y="393192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4855464" y="3913632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2" name="Text 120"/>
          <p:cNvSpPr/>
          <p:nvPr/>
        </p:nvSpPr>
        <p:spPr>
          <a:xfrm>
            <a:off x="4882896" y="39319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5660136" y="3913632"/>
            <a:ext cx="80467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4" name="Text 122"/>
          <p:cNvSpPr/>
          <p:nvPr/>
        </p:nvSpPr>
        <p:spPr>
          <a:xfrm>
            <a:off x="5687568" y="393192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256032" y="4242816"/>
            <a:ext cx="169164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6" name="Text 124"/>
          <p:cNvSpPr/>
          <p:nvPr/>
        </p:nvSpPr>
        <p:spPr>
          <a:xfrm>
            <a:off x="283464" y="426110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1947672" y="4242816"/>
            <a:ext cx="768096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28" name="Text 126"/>
          <p:cNvSpPr/>
          <p:nvPr/>
        </p:nvSpPr>
        <p:spPr>
          <a:xfrm>
            <a:off x="1975104" y="42611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2715768" y="4242816"/>
            <a:ext cx="768096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0" name="Text 128"/>
          <p:cNvSpPr/>
          <p:nvPr/>
        </p:nvSpPr>
        <p:spPr>
          <a:xfrm>
            <a:off x="2743200" y="42611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3483864" y="4242816"/>
            <a:ext cx="68580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2" name="Text 130"/>
          <p:cNvSpPr/>
          <p:nvPr/>
        </p:nvSpPr>
        <p:spPr>
          <a:xfrm>
            <a:off x="3511296" y="4261104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4169664" y="4242816"/>
            <a:ext cx="68580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4" name="Text 132"/>
          <p:cNvSpPr/>
          <p:nvPr/>
        </p:nvSpPr>
        <p:spPr>
          <a:xfrm>
            <a:off x="4197096" y="4261104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4855464" y="4242816"/>
            <a:ext cx="804672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6" name="Text 134"/>
          <p:cNvSpPr/>
          <p:nvPr/>
        </p:nvSpPr>
        <p:spPr>
          <a:xfrm>
            <a:off x="4882896" y="42611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5660136" y="4242816"/>
            <a:ext cx="804672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8" name="Text 136"/>
          <p:cNvSpPr/>
          <p:nvPr/>
        </p:nvSpPr>
        <p:spPr>
          <a:xfrm>
            <a:off x="5687568" y="42611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050" dirty="0"/>
          </a:p>
        </p:txBody>
      </p:sp>
      <p:graphicFrame>
        <p:nvGraphicFramePr>
          <p:cNvPr id="139" name="Chart 0"/>
          <p:cNvGraphicFramePr/>
          <p:nvPr>
            <p:extLst>
              <p:ext uri="{D42A27DB-BD31-4B8C-83A1-F6EECF244321}">
                <p14:modId xmlns:p14="http://schemas.microsoft.com/office/powerpoint/2010/main" val="4235408636"/>
              </p:ext>
            </p:extLst>
          </p:nvPr>
        </p:nvGraphicFramePr>
        <p:xfrm>
          <a:off x="5486400" y="1481328"/>
          <a:ext cx="3474720" cy="327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Yield Parameters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per Plant &amp; Seed Yield  —  F-test: Highly Significant (**)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214884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" y="1088136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04872" y="1078992"/>
            <a:ext cx="82296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3" name="Text 11"/>
          <p:cNvSpPr/>
          <p:nvPr/>
        </p:nvSpPr>
        <p:spPr>
          <a:xfrm>
            <a:off x="2432304" y="10881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@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078992"/>
            <a:ext cx="82296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3255264" y="108813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@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50792" y="1078992"/>
            <a:ext cx="91440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4078224" y="1088136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Yield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65192" y="1078992"/>
            <a:ext cx="1051560" cy="3474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9" name="Text 17"/>
          <p:cNvSpPr/>
          <p:nvPr/>
        </p:nvSpPr>
        <p:spPr>
          <a:xfrm>
            <a:off x="4992624" y="1088136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1444752"/>
            <a:ext cx="214884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" y="146304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100% RDF NPK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04872" y="1444752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2432304" y="146304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7832" y="1444752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3255264" y="146304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50792" y="1444752"/>
            <a:ext cx="91440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078224" y="146304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256.6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65192" y="1444752"/>
            <a:ext cx="10515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4992624" y="146304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1755648"/>
            <a:ext cx="2148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" y="1773936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– 50% RDP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04872" y="175564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432304" y="177393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27832" y="175564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55264" y="177393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50792" y="1755648"/>
            <a:ext cx="914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078224" y="17739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246.6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65192" y="1755648"/>
            <a:ext cx="1051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992624" y="1773936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2066544"/>
            <a:ext cx="214884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1" name="Text 39"/>
          <p:cNvSpPr/>
          <p:nvPr/>
        </p:nvSpPr>
        <p:spPr>
          <a:xfrm>
            <a:off x="283464" y="2084832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– 75% RDP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04872" y="2066544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3" name="Text 41"/>
          <p:cNvSpPr/>
          <p:nvPr/>
        </p:nvSpPr>
        <p:spPr>
          <a:xfrm>
            <a:off x="2432304" y="208483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27832" y="2066544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5" name="Text 43"/>
          <p:cNvSpPr/>
          <p:nvPr/>
        </p:nvSpPr>
        <p:spPr>
          <a:xfrm>
            <a:off x="3255264" y="208483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050792" y="2066544"/>
            <a:ext cx="91440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7" name="Text 45"/>
          <p:cNvSpPr/>
          <p:nvPr/>
        </p:nvSpPr>
        <p:spPr>
          <a:xfrm>
            <a:off x="4078224" y="208483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240.0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65192" y="2066544"/>
            <a:ext cx="10515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9" name="Text 47"/>
          <p:cNvSpPr/>
          <p:nvPr/>
        </p:nvSpPr>
        <p:spPr>
          <a:xfrm>
            <a:off x="4992624" y="208483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56032" y="2377440"/>
            <a:ext cx="214884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51" name="Text 49"/>
          <p:cNvSpPr/>
          <p:nvPr/>
        </p:nvSpPr>
        <p:spPr>
          <a:xfrm>
            <a:off x="283464" y="2395728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– 125% RDP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404872" y="2377440"/>
            <a:ext cx="82296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53" name="Text 51"/>
          <p:cNvSpPr/>
          <p:nvPr/>
        </p:nvSpPr>
        <p:spPr>
          <a:xfrm>
            <a:off x="2432304" y="239572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27832" y="2377440"/>
            <a:ext cx="82296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55" name="Text 53"/>
          <p:cNvSpPr/>
          <p:nvPr/>
        </p:nvSpPr>
        <p:spPr>
          <a:xfrm>
            <a:off x="3255264" y="239572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050792" y="2377440"/>
            <a:ext cx="91440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57" name="Text 55"/>
          <p:cNvSpPr/>
          <p:nvPr/>
        </p:nvSpPr>
        <p:spPr>
          <a:xfrm>
            <a:off x="4078224" y="239572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160.0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65192" y="2377440"/>
            <a:ext cx="1051560" cy="310896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59" name="Text 57"/>
          <p:cNvSpPr/>
          <p:nvPr/>
        </p:nvSpPr>
        <p:spPr>
          <a:xfrm>
            <a:off x="4992624" y="239572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(Lowest)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56032" y="2688336"/>
            <a:ext cx="214884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1" name="Text 59"/>
          <p:cNvSpPr/>
          <p:nvPr/>
        </p:nvSpPr>
        <p:spPr>
          <a:xfrm>
            <a:off x="283464" y="2706624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– 150% RDP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404872" y="2688336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3" name="Text 61"/>
          <p:cNvSpPr/>
          <p:nvPr/>
        </p:nvSpPr>
        <p:spPr>
          <a:xfrm>
            <a:off x="2432304" y="270662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227832" y="2688336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5" name="Text 63"/>
          <p:cNvSpPr/>
          <p:nvPr/>
        </p:nvSpPr>
        <p:spPr>
          <a:xfrm>
            <a:off x="3255264" y="270662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050792" y="2688336"/>
            <a:ext cx="91440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7" name="Text 65"/>
          <p:cNvSpPr/>
          <p:nvPr/>
        </p:nvSpPr>
        <p:spPr>
          <a:xfrm>
            <a:off x="4078224" y="270662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210.0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965192" y="2688336"/>
            <a:ext cx="10515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9" name="Text 67"/>
          <p:cNvSpPr/>
          <p:nvPr/>
        </p:nvSpPr>
        <p:spPr>
          <a:xfrm>
            <a:off x="4992624" y="2706624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56032" y="2999232"/>
            <a:ext cx="2148840" cy="31089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1" name="Text 69"/>
          <p:cNvSpPr/>
          <p:nvPr/>
        </p:nvSpPr>
        <p:spPr>
          <a:xfrm>
            <a:off x="283464" y="3017520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– 175% RDP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404872" y="2999232"/>
            <a:ext cx="822960" cy="31089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3" name="Text 71"/>
          <p:cNvSpPr/>
          <p:nvPr/>
        </p:nvSpPr>
        <p:spPr>
          <a:xfrm>
            <a:off x="2432304" y="301752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227832" y="2999232"/>
            <a:ext cx="822960" cy="31089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5" name="Text 73"/>
          <p:cNvSpPr/>
          <p:nvPr/>
        </p:nvSpPr>
        <p:spPr>
          <a:xfrm>
            <a:off x="3255264" y="301752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60.8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050792" y="2999232"/>
            <a:ext cx="914400" cy="31089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7" name="Text 75"/>
          <p:cNvSpPr/>
          <p:nvPr/>
        </p:nvSpPr>
        <p:spPr>
          <a:xfrm>
            <a:off x="4078224" y="301752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340.0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965192" y="2999232"/>
            <a:ext cx="1051560" cy="310896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9" name="Text 77"/>
          <p:cNvSpPr/>
          <p:nvPr/>
        </p:nvSpPr>
        <p:spPr>
          <a:xfrm>
            <a:off x="4992624" y="301752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(Highest)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56032" y="3310128"/>
            <a:ext cx="214884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1" name="Text 79"/>
          <p:cNvSpPr/>
          <p:nvPr/>
        </p:nvSpPr>
        <p:spPr>
          <a:xfrm>
            <a:off x="283464" y="3328416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– 200% RDP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2404872" y="3310128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3" name="Text 81"/>
          <p:cNvSpPr/>
          <p:nvPr/>
        </p:nvSpPr>
        <p:spPr>
          <a:xfrm>
            <a:off x="2432304" y="332841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227832" y="3310128"/>
            <a:ext cx="8229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5" name="Text 83"/>
          <p:cNvSpPr/>
          <p:nvPr/>
        </p:nvSpPr>
        <p:spPr>
          <a:xfrm>
            <a:off x="3255264" y="332841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4050792" y="3310128"/>
            <a:ext cx="91440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7" name="Text 85"/>
          <p:cNvSpPr/>
          <p:nvPr/>
        </p:nvSpPr>
        <p:spPr>
          <a:xfrm>
            <a:off x="4078224" y="332841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253.3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965192" y="3310128"/>
            <a:ext cx="105156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9" name="Text 87"/>
          <p:cNvSpPr/>
          <p:nvPr/>
        </p:nvSpPr>
        <p:spPr>
          <a:xfrm>
            <a:off x="4992624" y="3328416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56032" y="3621024"/>
            <a:ext cx="214884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1" name="Text 89"/>
          <p:cNvSpPr/>
          <p:nvPr/>
        </p:nvSpPr>
        <p:spPr>
          <a:xfrm>
            <a:off x="283464" y="3639312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2404872" y="3621024"/>
            <a:ext cx="8229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3" name="Text 91"/>
          <p:cNvSpPr/>
          <p:nvPr/>
        </p:nvSpPr>
        <p:spPr>
          <a:xfrm>
            <a:off x="2432304" y="36393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3227832" y="3621024"/>
            <a:ext cx="8229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5" name="Text 93"/>
          <p:cNvSpPr/>
          <p:nvPr/>
        </p:nvSpPr>
        <p:spPr>
          <a:xfrm>
            <a:off x="3255264" y="36393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050792" y="3621024"/>
            <a:ext cx="91440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7" name="Text 95"/>
          <p:cNvSpPr/>
          <p:nvPr/>
        </p:nvSpPr>
        <p:spPr>
          <a:xfrm>
            <a:off x="4078224" y="363931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3.31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965192" y="3621024"/>
            <a:ext cx="10515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9" name="Text 97"/>
          <p:cNvSpPr/>
          <p:nvPr/>
        </p:nvSpPr>
        <p:spPr>
          <a:xfrm>
            <a:off x="4992624" y="363931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256032" y="3931920"/>
            <a:ext cx="214884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1" name="Text 99"/>
          <p:cNvSpPr/>
          <p:nvPr/>
        </p:nvSpPr>
        <p:spPr>
          <a:xfrm>
            <a:off x="283464" y="3950208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@ 5%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2404872" y="3931920"/>
            <a:ext cx="8229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3" name="Text 101"/>
          <p:cNvSpPr/>
          <p:nvPr/>
        </p:nvSpPr>
        <p:spPr>
          <a:xfrm>
            <a:off x="2432304" y="395020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5.25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227832" y="3931920"/>
            <a:ext cx="8229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5" name="Text 103"/>
          <p:cNvSpPr/>
          <p:nvPr/>
        </p:nvSpPr>
        <p:spPr>
          <a:xfrm>
            <a:off x="3255264" y="395020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5.05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4050792" y="3931920"/>
            <a:ext cx="91440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7" name="Text 105"/>
          <p:cNvSpPr/>
          <p:nvPr/>
        </p:nvSpPr>
        <p:spPr>
          <a:xfrm>
            <a:off x="4078224" y="3950208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5.90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4965192" y="3931920"/>
            <a:ext cx="10515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4992624" y="395020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256032" y="4242816"/>
            <a:ext cx="214884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1" name="Text 109"/>
          <p:cNvSpPr/>
          <p:nvPr/>
        </p:nvSpPr>
        <p:spPr>
          <a:xfrm>
            <a:off x="283464" y="4261104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2404872" y="4242816"/>
            <a:ext cx="8229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3" name="Text 111"/>
          <p:cNvSpPr/>
          <p:nvPr/>
        </p:nvSpPr>
        <p:spPr>
          <a:xfrm>
            <a:off x="2432304" y="426110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3227832" y="4242816"/>
            <a:ext cx="8229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5" name="Text 113"/>
          <p:cNvSpPr/>
          <p:nvPr/>
        </p:nvSpPr>
        <p:spPr>
          <a:xfrm>
            <a:off x="3255264" y="426110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4050792" y="4242816"/>
            <a:ext cx="91440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7" name="Text 115"/>
          <p:cNvSpPr/>
          <p:nvPr/>
        </p:nvSpPr>
        <p:spPr>
          <a:xfrm>
            <a:off x="4078224" y="426110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4965192" y="4242816"/>
            <a:ext cx="1051560" cy="31089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9" name="Text 117"/>
          <p:cNvSpPr/>
          <p:nvPr/>
        </p:nvSpPr>
        <p:spPr>
          <a:xfrm>
            <a:off x="4992624" y="4261104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graphicFrame>
        <p:nvGraphicFramePr>
          <p:cNvPr id="120" name="Chart 0"/>
          <p:cNvGraphicFramePr/>
          <p:nvPr>
            <p:extLst>
              <p:ext uri="{D42A27DB-BD31-4B8C-83A1-F6EECF244321}">
                <p14:modId xmlns:p14="http://schemas.microsoft.com/office/powerpoint/2010/main" val="3321683059"/>
              </p:ext>
            </p:extLst>
          </p:nvPr>
        </p:nvGraphicFramePr>
        <p:xfrm>
          <a:off x="6035040" y="1060704"/>
          <a:ext cx="2926080" cy="2121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1" name="Chart 1"/>
          <p:cNvGraphicFramePr/>
          <p:nvPr>
            <p:extLst>
              <p:ext uri="{D42A27DB-BD31-4B8C-83A1-F6EECF244321}">
                <p14:modId xmlns:p14="http://schemas.microsoft.com/office/powerpoint/2010/main" val="784992821"/>
              </p:ext>
            </p:extLst>
          </p:nvPr>
        </p:nvGraphicFramePr>
        <p:xfrm>
          <a:off x="6035040" y="3291840"/>
          <a:ext cx="2926080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ANOVA under RCBD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F-calculated = 345.54  (Highly Significant at both 5% &amp; 1% levels)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8631936" cy="475488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78992"/>
            <a:ext cx="64008" cy="47548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0972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(Randomised Complete Block Design) partitions total variation into Replication, Treatment, and Error components. Treatment F-ratio tests whether phosphorous levels produce significantly different yields. F-calc &gt;&gt; F-tab confirms highly significant effect.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664208"/>
            <a:ext cx="141732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" y="168249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73352" y="1664208"/>
            <a:ext cx="438912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6" name="Text 14"/>
          <p:cNvSpPr/>
          <p:nvPr/>
        </p:nvSpPr>
        <p:spPr>
          <a:xfrm>
            <a:off x="1700784" y="16824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12264" y="1664208"/>
            <a:ext cx="1170432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8" name="Text 16"/>
          <p:cNvSpPr/>
          <p:nvPr/>
        </p:nvSpPr>
        <p:spPr>
          <a:xfrm>
            <a:off x="2139696" y="168249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82696" y="1664208"/>
            <a:ext cx="1078992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168249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61688" y="1664208"/>
            <a:ext cx="123444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68249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Calculated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96128" y="1664208"/>
            <a:ext cx="96012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168249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Tab 5%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56248" y="1664208"/>
            <a:ext cx="960120" cy="329184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68249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Tab 1%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2011680"/>
            <a:ext cx="141732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" y="2029968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73352" y="2011680"/>
            <a:ext cx="43891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1700784" y="20299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12264" y="2011680"/>
            <a:ext cx="117043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139696" y="20299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116,723.81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82696" y="2011680"/>
            <a:ext cx="107899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4" name="Text 32"/>
          <p:cNvSpPr/>
          <p:nvPr/>
        </p:nvSpPr>
        <p:spPr>
          <a:xfrm>
            <a:off x="3310128" y="202996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11,804.76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61688" y="2011680"/>
            <a:ext cx="123444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2029968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96128" y="2011680"/>
            <a:ext cx="96012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623560" y="202996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3.88*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56248" y="2011680"/>
            <a:ext cx="96012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2029968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3.8**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2340864"/>
            <a:ext cx="1417320" cy="32918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2" name="Text 40"/>
          <p:cNvSpPr/>
          <p:nvPr/>
        </p:nvSpPr>
        <p:spPr>
          <a:xfrm>
            <a:off x="283464" y="2359152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673352" y="2340864"/>
            <a:ext cx="438912" cy="32918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4" name="Text 42"/>
          <p:cNvSpPr/>
          <p:nvPr/>
        </p:nvSpPr>
        <p:spPr>
          <a:xfrm>
            <a:off x="1700784" y="23591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12264" y="2340864"/>
            <a:ext cx="1170432" cy="32918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6" name="Text 44"/>
          <p:cNvSpPr/>
          <p:nvPr/>
        </p:nvSpPr>
        <p:spPr>
          <a:xfrm>
            <a:off x="2139696" y="235915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56,523.81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82696" y="2340864"/>
            <a:ext cx="1078992" cy="32918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8" name="Text 46"/>
          <p:cNvSpPr/>
          <p:nvPr/>
        </p:nvSpPr>
        <p:spPr>
          <a:xfrm>
            <a:off x="3310128" y="23591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9,420.63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61688" y="2340864"/>
            <a:ext cx="1234440" cy="32918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0" name="Text 48"/>
          <p:cNvSpPr/>
          <p:nvPr/>
        </p:nvSpPr>
        <p:spPr>
          <a:xfrm>
            <a:off x="4389120" y="2359152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345.54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96128" y="2340864"/>
            <a:ext cx="960120" cy="32918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2" name="Text 50"/>
          <p:cNvSpPr/>
          <p:nvPr/>
        </p:nvSpPr>
        <p:spPr>
          <a:xfrm>
            <a:off x="5623560" y="2359152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0.98*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56248" y="2340864"/>
            <a:ext cx="960120" cy="32918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0" y="2359152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4.8**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" y="2670048"/>
            <a:ext cx="141732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6" name="Text 54"/>
          <p:cNvSpPr/>
          <p:nvPr/>
        </p:nvSpPr>
        <p:spPr>
          <a:xfrm>
            <a:off x="283464" y="268833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673352" y="2670048"/>
            <a:ext cx="43891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8" name="Text 56"/>
          <p:cNvSpPr/>
          <p:nvPr/>
        </p:nvSpPr>
        <p:spPr>
          <a:xfrm>
            <a:off x="1700784" y="26883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112264" y="2670048"/>
            <a:ext cx="117043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0" name="Text 58"/>
          <p:cNvSpPr/>
          <p:nvPr/>
        </p:nvSpPr>
        <p:spPr>
          <a:xfrm>
            <a:off x="2139696" y="26883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36,590.48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82696" y="2670048"/>
            <a:ext cx="1078992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2" name="Text 60"/>
          <p:cNvSpPr/>
          <p:nvPr/>
        </p:nvSpPr>
        <p:spPr>
          <a:xfrm>
            <a:off x="3310128" y="268833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3,049.20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361688" y="2670048"/>
            <a:ext cx="123444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4" name="Text 62"/>
          <p:cNvSpPr/>
          <p:nvPr/>
        </p:nvSpPr>
        <p:spPr>
          <a:xfrm>
            <a:off x="4389120" y="2688336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596128" y="2670048"/>
            <a:ext cx="96012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6" name="Text 64"/>
          <p:cNvSpPr/>
          <p:nvPr/>
        </p:nvSpPr>
        <p:spPr>
          <a:xfrm>
            <a:off x="5623560" y="268833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556248" y="2670048"/>
            <a:ext cx="960120" cy="32918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8" name="Text 66"/>
          <p:cNvSpPr/>
          <p:nvPr/>
        </p:nvSpPr>
        <p:spPr>
          <a:xfrm>
            <a:off x="6583680" y="268833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56032" y="2999232"/>
            <a:ext cx="1417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283464" y="301752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673352" y="2999232"/>
            <a:ext cx="43891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1700784" y="30175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112264" y="2999232"/>
            <a:ext cx="117043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2139696" y="301752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282696" y="2999232"/>
            <a:ext cx="1078992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3310128" y="301752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361688" y="2999232"/>
            <a:ext cx="12344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4389120" y="3017520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596128" y="2999232"/>
            <a:ext cx="960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5623560" y="301752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556248" y="2999232"/>
            <a:ext cx="9601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6583680" y="301752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256032" y="3346704"/>
            <a:ext cx="2011680" cy="896112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256032" y="3346704"/>
            <a:ext cx="2011680" cy="64008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85" name="Text 83"/>
          <p:cNvSpPr/>
          <p:nvPr/>
        </p:nvSpPr>
        <p:spPr>
          <a:xfrm>
            <a:off x="256032" y="34198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345.54</a:t>
            </a:r>
            <a:endParaRPr lang="en-US" sz="3600" dirty="0"/>
          </a:p>
        </p:txBody>
      </p:sp>
      <p:sp>
        <p:nvSpPr>
          <p:cNvPr id="86" name="Text 84"/>
          <p:cNvSpPr/>
          <p:nvPr/>
        </p:nvSpPr>
        <p:spPr>
          <a:xfrm>
            <a:off x="256032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F-calculated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2414016" y="3346704"/>
            <a:ext cx="2011680" cy="896112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414016" y="3346704"/>
            <a:ext cx="2011680" cy="6400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89" name="Text 87"/>
          <p:cNvSpPr/>
          <p:nvPr/>
        </p:nvSpPr>
        <p:spPr>
          <a:xfrm>
            <a:off x="2414016" y="34198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5.90 g</a:t>
            </a:r>
            <a:endParaRPr lang="en-US" sz="3600" dirty="0"/>
          </a:p>
        </p:txBody>
      </p:sp>
      <p:sp>
        <p:nvSpPr>
          <p:cNvPr id="90" name="Text 88"/>
          <p:cNvSpPr/>
          <p:nvPr/>
        </p:nvSpPr>
        <p:spPr>
          <a:xfrm>
            <a:off x="2414016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@ 5%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Yield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572000" y="3346704"/>
            <a:ext cx="2011680" cy="896112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572000" y="3346704"/>
            <a:ext cx="2011680" cy="6400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93" name="Text 91"/>
          <p:cNvSpPr/>
          <p:nvPr/>
        </p:nvSpPr>
        <p:spPr>
          <a:xfrm>
            <a:off x="4572000" y="34198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5.05</a:t>
            </a:r>
            <a:endParaRPr lang="en-US" sz="3600" dirty="0"/>
          </a:p>
        </p:txBody>
      </p:sp>
      <p:sp>
        <p:nvSpPr>
          <p:cNvPr id="94" name="Text 92"/>
          <p:cNvSpPr/>
          <p:nvPr/>
        </p:nvSpPr>
        <p:spPr>
          <a:xfrm>
            <a:off x="4572000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@ 5%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Harvest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6729984" y="3346704"/>
            <a:ext cx="2011680" cy="896112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729984" y="3346704"/>
            <a:ext cx="2011680" cy="640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7" name="Text 95"/>
          <p:cNvSpPr/>
          <p:nvPr/>
        </p:nvSpPr>
        <p:spPr>
          <a:xfrm>
            <a:off x="6729984" y="341985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3600" dirty="0"/>
          </a:p>
        </p:txBody>
      </p:sp>
      <p:sp>
        <p:nvSpPr>
          <p:cNvPr id="98" name="Text 96"/>
          <p:cNvSpPr/>
          <p:nvPr/>
        </p:nvSpPr>
        <p:spPr>
          <a:xfrm>
            <a:off x="6729984" y="3822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256032" y="4352544"/>
            <a:ext cx="8631936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0" name="Shape 98"/>
          <p:cNvSpPr/>
          <p:nvPr/>
        </p:nvSpPr>
        <p:spPr>
          <a:xfrm>
            <a:off x="256032" y="4352544"/>
            <a:ext cx="64008" cy="502920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101" name="Text 99"/>
          <p:cNvSpPr/>
          <p:nvPr/>
        </p:nvSpPr>
        <p:spPr>
          <a:xfrm>
            <a:off x="384048" y="43708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F-calculated value of 345.54 for Treatments far exceeds both F-table values (5%: 0.98; 1%: 4.8), confirming that different phosphorous levels exert a HIGHLY SIGNIFICANT effect on cowpea seed yield. Treatment means were separated using CD (Critical Difference) at 5% probability level.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Yield Charts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Yield (g) &amp; Pod Count Comparison Across All Treatments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1477219809"/>
              </p:ext>
            </p:extLst>
          </p:nvPr>
        </p:nvGraphicFramePr>
        <p:xfrm>
          <a:off x="256032" y="1097280"/>
          <a:ext cx="4315968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306787642"/>
              </p:ext>
            </p:extLst>
          </p:nvPr>
        </p:nvGraphicFramePr>
        <p:xfrm>
          <a:off x="4828032" y="1097280"/>
          <a:ext cx="4059936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256032" y="4736592"/>
            <a:ext cx="8631936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9"/>
          <p:cNvSpPr/>
          <p:nvPr/>
        </p:nvSpPr>
        <p:spPr>
          <a:xfrm>
            <a:off x="329184" y="4745736"/>
            <a:ext cx="8485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(175% RDP): Highest seed yield 340 g  |  Most pods at harvest 60.8/plant    T4 (125% RDP): Lowest yield 160 g — unexpected yield depression (non-linear P response)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— Growth Charts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Height, Leaf Count &amp; Branch Count  —  F-test NS (Non-Significant)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4187638835"/>
              </p:ext>
            </p:extLst>
          </p:nvPr>
        </p:nvGraphicFramePr>
        <p:xfrm>
          <a:off x="256032" y="1097280"/>
          <a:ext cx="4315968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1894615091"/>
              </p:ext>
            </p:extLst>
          </p:nvPr>
        </p:nvGraphicFramePr>
        <p:xfrm>
          <a:off x="4828032" y="1097280"/>
          <a:ext cx="4059936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2"/>
          <p:cNvGraphicFramePr/>
          <p:nvPr>
            <p:extLst>
              <p:ext uri="{D42A27DB-BD31-4B8C-83A1-F6EECF244321}">
                <p14:modId xmlns:p14="http://schemas.microsoft.com/office/powerpoint/2010/main" val="2054276926"/>
              </p:ext>
            </p:extLst>
          </p:nvPr>
        </p:nvGraphicFramePr>
        <p:xfrm>
          <a:off x="256032" y="3145536"/>
          <a:ext cx="8631936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Key Observations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576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Response · Weather Influence · Dose-Response Dynamics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9149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 Phosphorous Study  |  ZARS GKVK, UAS Bengaluru  |  Kharif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9149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078992"/>
            <a:ext cx="4224528" cy="1792224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78992"/>
            <a:ext cx="4224528" cy="310896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1155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Influence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444752"/>
            <a:ext cx="404164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thrice during crop period → damping-off, lodging &amp; pest incidence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at 3-day intervals; ~90% relative humidity throughout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dry-zone Kharif conditions represented typical growing stress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980944"/>
            <a:ext cx="4224528" cy="1792224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980944"/>
            <a:ext cx="4224528" cy="310896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301752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 Growth (F-test NS)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3346704"/>
            <a:ext cx="404164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leaf count &amp; branches NOT significantly differentiated by P-level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Cowpea's N-fixing ability reduces dependence on external P for vegetative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NPK (T1) gave best branching at 60 DAS (45.6 branches/plant)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1078992"/>
            <a:ext cx="4224528" cy="1792224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1078992"/>
            <a:ext cx="4224528" cy="310896"/>
          </a:xfrm>
          <a:prstGeom prst="rect">
            <a:avLst/>
          </a:prstGeom>
          <a:solidFill>
            <a:srgbClr val="2D7D46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111556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Response — Highly Significant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1444752"/>
            <a:ext cx="404164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345.54 confirms P is critical for reproductive output, not vegetative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dose-response: yield dipped at T4 (125% RDP, 160 g) then peaked at T6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(175% RDP): 340 g — ~33% gain over T1 control (256.6 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2980944"/>
            <a:ext cx="4224528" cy="1792224"/>
          </a:xfrm>
          <a:prstGeom prst="rect">
            <a:avLst/>
          </a:prstGeom>
          <a:solidFill>
            <a:srgbClr val="F5F9F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980944"/>
            <a:ext cx="4224528" cy="310896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301752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Agronomic Recommendations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28032" y="3346704"/>
            <a:ext cx="404164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T6 (175% RDP) for commercial seed yield maximisation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(100% RDF NPK) remains reliable balanced option for conventional farming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T4 (125% RDP) — possible nutrient imbalance at this intermediate dose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rely on T2 (50% RDP) as sole P application — consistent underperformance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4754880"/>
            <a:ext cx="8631936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" y="4773168"/>
            <a:ext cx="8485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Pattern: T2(246.6g) → T1-ctrl(256.6g) → T3(240g) → T4-DIPS(160g) → T5(210g) → T6-PEAK(340g) → T7(253.3g)  |  Non-linear optimum curve with valley at 125% RDP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6E73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365760"/>
            <a:ext cx="3474720" cy="3474720"/>
          </a:xfrm>
          <a:prstGeom prst="ellipse">
            <a:avLst/>
          </a:prstGeom>
          <a:solidFill>
            <a:srgbClr val="0A6E7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8912" y="914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Conclusions, Future Scope &amp; References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8912" y="5486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Field-validated insights for phosphorous management in cowpea — eastern dry zone, Karnataka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932688"/>
            <a:ext cx="4224528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932688"/>
            <a:ext cx="64008" cy="85953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9875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" y="1207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(175% RDP): Highest seed yield 340 g &amp; 60.8 pods/plant. Recommended for commercial cowpea cultivation targeting seed yield maximisation.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01952"/>
            <a:ext cx="4224528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901952"/>
            <a:ext cx="64008" cy="8595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" y="19568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Alternative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" y="217627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(100% RDF NPK): 2nd-best yield (256.6 g), most pods at 60 DAS, best branching. Reliable for conventional farmers.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28032" y="932688"/>
            <a:ext cx="4224528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28032" y="932688"/>
            <a:ext cx="64008" cy="859536"/>
          </a:xfrm>
          <a:prstGeom prst="rect">
            <a:avLst/>
          </a:prstGeom>
          <a:solidFill>
            <a:srgbClr val="FF8A80"/>
          </a:solidFill>
          <a:ln/>
        </p:spPr>
      </p:sp>
      <p:sp>
        <p:nvSpPr>
          <p:cNvPr id="17" name="Text 15"/>
          <p:cNvSpPr/>
          <p:nvPr/>
        </p:nvSpPr>
        <p:spPr>
          <a:xfrm>
            <a:off x="4974336" y="9875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to Avoid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74336" y="1207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(125% RDP) gave LOWEST yield (160 g). T2 (50% RDP) underperformed consistently. Sub-optimal &amp; intermediate doses should be avoided.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28032" y="1901952"/>
            <a:ext cx="4224528" cy="85953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1901952"/>
            <a:ext cx="64008" cy="85953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1" name="Text 19"/>
          <p:cNvSpPr/>
          <p:nvPr/>
        </p:nvSpPr>
        <p:spPr>
          <a:xfrm>
            <a:off x="4974336" y="19568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Scientific Insight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74336" y="217627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Phosphorous primarily enhances REPRODUCTIVE output (pods &amp; yield) — not vegetative height. Non-linear P response with optimum at ~175% RDP.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2962656"/>
            <a:ext cx="8430768" cy="89611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980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36976"/>
            <a:ext cx="1554480" cy="512064"/>
          </a:xfrm>
          <a:prstGeom prst="rect">
            <a:avLst/>
          </a:prstGeom>
          <a:solidFill>
            <a:srgbClr val="0A6E73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255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validation across seasons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21408" y="3236976"/>
            <a:ext cx="1554480" cy="512064"/>
          </a:xfrm>
          <a:prstGeom prst="rect">
            <a:avLst/>
          </a:prstGeom>
          <a:solidFill>
            <a:srgbClr val="0A6E73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157984" y="3255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 × P interaction studies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85616" y="3236976"/>
            <a:ext cx="1554480" cy="512064"/>
          </a:xfrm>
          <a:prstGeom prst="rect">
            <a:avLst/>
          </a:prstGeom>
          <a:solidFill>
            <a:srgbClr val="0A6E73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822192" y="3255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yield prediction (RF/XGBoost)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49824" y="3236976"/>
            <a:ext cx="1554480" cy="512064"/>
          </a:xfrm>
          <a:prstGeom prst="rect">
            <a:avLst/>
          </a:prstGeom>
          <a:solidFill>
            <a:srgbClr val="0A6E73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3255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Bio-fertilizer (PSB) integration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14032" y="3236976"/>
            <a:ext cx="1554480" cy="512064"/>
          </a:xfrm>
          <a:prstGeom prst="rect">
            <a:avLst/>
          </a:prstGeom>
          <a:solidFill>
            <a:srgbClr val="0A6E73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150608" y="325526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cost-benefit analysis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3968496"/>
            <a:ext cx="8430768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4224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Baboo &amp; Mishra (2001) J. Agric. Sci. 45(1)  |  Anil et al. (2007) Indian J. Agronomy 52(3)  |  Bhilare &amp; Patil (2002) Legume Res. 25(4)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4805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Karikari et al. (2015) J. Agronomy 14(4)  |  Baura (2020) J. Exp. Agric. Intl 40(2)  |  Daramy et al. (2017) J. Exp. Biol. &amp; Agric. Sci. 5(1)  |  Davis et al. (1991) ASA, Madison, WI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7" y="595617"/>
            <a:ext cx="8026408" cy="388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1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2411</Words>
  <Application>Microsoft Office PowerPoint</Application>
  <PresentationFormat>On-screen Show (16:9)</PresentationFormat>
  <Paragraphs>504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Inter</vt:lpstr>
      <vt:lpstr>Inter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Cowpea Phosphorous Study – UAS Bengaluru Kharif 2024</dc:title>
  <dc:subject>PptxGenJS Presentation</dc:subject>
  <dc:creator>PptxGenJS</dc:creator>
  <cp:lastModifiedBy>Student</cp:lastModifiedBy>
  <cp:revision>7</cp:revision>
  <dcterms:created xsi:type="dcterms:W3CDTF">2026-04-01T04:21:47Z</dcterms:created>
  <dcterms:modified xsi:type="dcterms:W3CDTF">2026-04-01T05:32:06Z</dcterms:modified>
</cp:coreProperties>
</file>